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00B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FFFFFF"/>
                </a:solidFill>
              </a:rPr>
              <a:t>opensecstack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749039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00BFB2"/>
                </a:solidFill>
              </a:rPr>
              <a:t>Governing the Digital Future — Secure OS · Blockchain Governance · EU Ecosystem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6355080"/>
            <a:ext cx="121889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E6EAF0"/>
                </a:solidFill>
              </a:rPr>
              <a:t>EU Conference  ·  2026  ·  opensecstack.org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64008" cy="5852160"/>
          </a:xfrm>
          <a:prstGeom prst="rect">
            <a:avLst/>
          </a:prstGeom>
          <a:solidFill>
            <a:srgbClr val="00B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37160"/>
            <a:ext cx="11521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Our Vision: Digital Sovereignty by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170432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A1A2F"/>
                </a:solidFill>
              </a:rPr>
              <a:t>  ▶  Software that cannot be forged, tampered with, or silently bypassed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627632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A1A2F"/>
                </a:solidFill>
              </a:rPr>
              <a:t>  ▶  An open-source ecosystem where every action leaves a cryptographic footprint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084832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A1A2F"/>
                </a:solidFill>
              </a:rPr>
              <a:t>  ▶  An operating system built for security — not bolted on after the fact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542032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A1A2F"/>
                </a:solidFill>
              </a:rPr>
              <a:t>  ▶  Governance that is mathematically provable — not just policy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999232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445566"/>
                </a:solidFill>
              </a:rPr>
              <a:t>    ◦  Every decision: chain-hashed, anchored, and auditable forever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392424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445566"/>
                </a:solidFill>
              </a:rPr>
              <a:t>    ◦  Every actor: separated by duty, verified by cryptography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785616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A1A2F"/>
                </a:solidFill>
              </a:rPr>
              <a:t>  ▶  EU-native: NIS2 · GDPR · Cyber Resilience Act — covered by design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4242816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A1A2F"/>
                </a:solidFill>
              </a:rPr>
              <a:t>  ▶  Open to all: Apache 2.0 · Multi-language SDK · Community-driven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64008" cy="5852160"/>
          </a:xfrm>
          <a:prstGeom prst="rect">
            <a:avLst/>
          </a:prstGeom>
          <a:solidFill>
            <a:srgbClr val="00B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37160"/>
            <a:ext cx="11521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The Problem We Solve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170432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A1A2F"/>
                </a:solidFill>
              </a:rPr>
              <a:t>  ▶  AI systems execute thousands of privileged actions daily — with no verifiable record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627632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445566"/>
                </a:solidFill>
              </a:rPr>
              <a:t>    ◦  Who authorised this deployment? When? With what evidence?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020824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A1A2F"/>
                </a:solidFill>
              </a:rPr>
              <a:t>  ▶  Audit logs live in databases that administrators can edit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478024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445566"/>
                </a:solidFill>
              </a:rPr>
              <a:t>    ◦  Post-breach forensics are unreliable — the evidence can be destroyed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871216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A1A2F"/>
                </a:solidFill>
              </a:rPr>
              <a:t>  ▶  Separation of Duties is policy, not enforcement — bypassed silently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328416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445566"/>
                </a:solidFill>
              </a:rPr>
              <a:t>    ◦  One operator triggers and approves the same change — undetected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721608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A1A2F"/>
                </a:solidFill>
              </a:rPr>
              <a:t>  ▶  Regulatory mandates demand proof, not process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4178808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445566"/>
                </a:solidFill>
              </a:rPr>
              <a:t>    ◦  NIS2 Article 21(2)(h): cryptographic evidence of control is required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57200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A1A2F"/>
                </a:solidFill>
              </a:rPr>
              <a:t>  ▶  Current solutions: expensive, proprietary, single-vendor lock-in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34640"/>
            <a:ext cx="12188952" cy="54864"/>
          </a:xfrm>
          <a:prstGeom prst="rect">
            <a:avLst/>
          </a:prstGeom>
          <a:solidFill>
            <a:srgbClr val="00B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2103120"/>
            <a:ext cx="121889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BFB2"/>
                </a:solidFill>
              </a:rPr>
              <a:t>SECTION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1752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</a:rPr>
              <a:t>The opensecstack Ecosystem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48056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E6EAF0"/>
                </a:solidFill>
              </a:rPr>
              <a:t>Eight platforms. One immutable governance layer.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64008" cy="5852160"/>
          </a:xfrm>
          <a:prstGeom prst="rect">
            <a:avLst/>
          </a:prstGeom>
          <a:solidFill>
            <a:srgbClr val="00B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37160"/>
            <a:ext cx="11521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The opensecstack Ecosystem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188720"/>
            <a:ext cx="2651760" cy="1600200"/>
          </a:xfrm>
          <a:prstGeom prst="rect">
            <a:avLst/>
          </a:prstGeom>
          <a:solidFill>
            <a:srgbClr val="0A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02336" y="1280160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FB2"/>
                </a:solidFill>
              </a:rPr>
              <a:t>APIGuard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6" y="1664208"/>
            <a:ext cx="24688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API Security
OWASP A1–A10
CVSS 3.1 · SARIF</a:t>
            </a:r>
          </a:p>
        </p:txBody>
      </p:sp>
      <p:sp>
        <p:nvSpPr>
          <p:cNvPr id="9" name="Rectangle 8"/>
          <p:cNvSpPr/>
          <p:nvPr/>
        </p:nvSpPr>
        <p:spPr>
          <a:xfrm>
            <a:off x="2944368" y="1952244"/>
            <a:ext cx="466344" cy="73152"/>
          </a:xfrm>
          <a:prstGeom prst="rect">
            <a:avLst/>
          </a:prstGeom>
          <a:solidFill>
            <a:srgbClr val="00B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10712" y="1188720"/>
            <a:ext cx="2651760" cy="1600200"/>
          </a:xfrm>
          <a:prstGeom prst="rect">
            <a:avLst/>
          </a:prstGeom>
          <a:solidFill>
            <a:srgbClr val="0A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0440" y="1280160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FB2"/>
                </a:solidFill>
              </a:rPr>
              <a:t>NIS2 Compass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1664208"/>
            <a:ext cx="24688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Regulatory
NIS2 Art.21(2)
10 Measures A–J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62472" y="1952244"/>
            <a:ext cx="466344" cy="73152"/>
          </a:xfrm>
          <a:prstGeom prst="rect">
            <a:avLst/>
          </a:prstGeom>
          <a:solidFill>
            <a:srgbClr val="00B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28816" y="1188720"/>
            <a:ext cx="2651760" cy="1600200"/>
          </a:xfrm>
          <a:prstGeom prst="rect">
            <a:avLst/>
          </a:prstGeom>
          <a:solidFill>
            <a:srgbClr val="0A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38544" y="1280160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FB2"/>
                </a:solidFill>
              </a:rPr>
              <a:t>CITADEL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38544" y="1664208"/>
            <a:ext cx="24688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Governance Engine
MARSHAL · WORM
VIGIL · AUGUR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80576" y="1952244"/>
            <a:ext cx="466344" cy="73152"/>
          </a:xfrm>
          <a:prstGeom prst="rect">
            <a:avLst/>
          </a:prstGeom>
          <a:solidFill>
            <a:srgbClr val="00B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646920" y="1188720"/>
            <a:ext cx="2651760" cy="1600200"/>
          </a:xfrm>
          <a:prstGeom prst="rect">
            <a:avLst/>
          </a:prstGeom>
          <a:solidFill>
            <a:srgbClr val="445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56648" y="1280160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FB2"/>
                </a:solidFill>
              </a:rPr>
              <a:t>IRFlow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56648" y="1664208"/>
            <a:ext cx="24688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Incident Response
Playbooks · SoD
[Phase 4]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92608" y="2971800"/>
            <a:ext cx="2651760" cy="1600200"/>
          </a:xfrm>
          <a:prstGeom prst="rect">
            <a:avLst/>
          </a:prstGeom>
          <a:solidFill>
            <a:srgbClr val="445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02336" y="3063240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FB2"/>
                </a:solidFill>
              </a:rPr>
              <a:t>ThreatFlow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2336" y="3447288"/>
            <a:ext cx="24688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Threat Intelligence
IOC feeds · TTP map
[Phase 4]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944368" y="3735324"/>
            <a:ext cx="466344" cy="73152"/>
          </a:xfrm>
          <a:prstGeom prst="rect">
            <a:avLst/>
          </a:prstGeom>
          <a:solidFill>
            <a:srgbClr val="00B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410712" y="2971800"/>
            <a:ext cx="2651760" cy="1600200"/>
          </a:xfrm>
          <a:prstGeom prst="rect">
            <a:avLst/>
          </a:prstGeom>
          <a:solidFill>
            <a:srgbClr val="0A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20440" y="3063240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FB2"/>
                </a:solidFill>
              </a:rPr>
              <a:t>MVNO Stack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20440" y="3447288"/>
            <a:ext cx="24688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Mobile Network Ops
SIM · eSIM · VoIP
CITADEL-gated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62472" y="3735324"/>
            <a:ext cx="466344" cy="73152"/>
          </a:xfrm>
          <a:prstGeom prst="rect">
            <a:avLst/>
          </a:prstGeom>
          <a:solidFill>
            <a:srgbClr val="00B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28816" y="2971800"/>
            <a:ext cx="2651760" cy="1600200"/>
          </a:xfrm>
          <a:prstGeom prst="rect">
            <a:avLst/>
          </a:prstGeom>
          <a:solidFill>
            <a:srgbClr val="0A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38544" y="3063240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FB2"/>
                </a:solidFill>
              </a:rPr>
              <a:t>CitadelOS
Desktop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38544" y="3447288"/>
            <a:ext cx="24688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Microkernel OS
Grid sandboxes
Hardware-backed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180576" y="3735324"/>
            <a:ext cx="466344" cy="73152"/>
          </a:xfrm>
          <a:prstGeom prst="rect">
            <a:avLst/>
          </a:prstGeom>
          <a:solidFill>
            <a:srgbClr val="00B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646920" y="2971800"/>
            <a:ext cx="2651760" cy="1600200"/>
          </a:xfrm>
          <a:prstGeom prst="rect">
            <a:avLst/>
          </a:prstGeom>
          <a:solidFill>
            <a:srgbClr val="0A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756648" y="3063240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FB2"/>
                </a:solidFill>
              </a:rPr>
              <a:t>CitadelOS
Mobile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56648" y="3447288"/>
            <a:ext cx="24688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ARM TrustZone
SIM governance
MVNO-native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4320" y="4754880"/>
            <a:ext cx="11612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445566"/>
                </a:solidFill>
              </a:rPr>
              <a:t>All platforms share one CITADEL WORM chain · HMAC-SHA256 connector auth · Apache 2.0 · SDK: Go · Python · Rust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56032" y="5303520"/>
            <a:ext cx="2240280" cy="1417320"/>
          </a:xfrm>
          <a:prstGeom prst="rect">
            <a:avLst/>
          </a:prstGeom>
          <a:solidFill>
            <a:srgbClr val="00B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56032" y="5349240"/>
            <a:ext cx="22402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A1A2F"/>
                </a:solidFill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56032" y="6007608"/>
            <a:ext cx="22402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A1A2F"/>
                </a:solidFill>
              </a:rPr>
              <a:t>Platforms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633472" y="5303520"/>
            <a:ext cx="2240280" cy="1417320"/>
          </a:xfrm>
          <a:prstGeom prst="rect">
            <a:avLst/>
          </a:prstGeom>
          <a:solidFill>
            <a:srgbClr val="00B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633472" y="5349240"/>
            <a:ext cx="22402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A1A2F"/>
                </a:solidFill>
              </a:rPr>
              <a:t>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633472" y="6007608"/>
            <a:ext cx="22402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A1A2F"/>
                </a:solidFill>
              </a:rPr>
              <a:t>SDK Languages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10912" y="5303520"/>
            <a:ext cx="2240280" cy="1417320"/>
          </a:xfrm>
          <a:prstGeom prst="rect">
            <a:avLst/>
          </a:prstGeom>
          <a:solidFill>
            <a:srgbClr val="00B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010912" y="5349240"/>
            <a:ext cx="22402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A1A2F"/>
                </a:solidFill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10912" y="6007608"/>
            <a:ext cx="22402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A1A2F"/>
                </a:solidFill>
              </a:rPr>
              <a:t>MARSHAL Gates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388352" y="5303520"/>
            <a:ext cx="2240280" cy="1417320"/>
          </a:xfrm>
          <a:prstGeom prst="rect">
            <a:avLst/>
          </a:prstGeom>
          <a:solidFill>
            <a:srgbClr val="00B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388352" y="5349240"/>
            <a:ext cx="22402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A1A2F"/>
                </a:solidFill>
              </a:rPr>
              <a:t>9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388352" y="6007608"/>
            <a:ext cx="22402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A1A2F"/>
                </a:solidFill>
              </a:rPr>
              <a:t>AUGUR Rules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765792" y="5303520"/>
            <a:ext cx="2240280" cy="1417320"/>
          </a:xfrm>
          <a:prstGeom prst="rect">
            <a:avLst/>
          </a:prstGeom>
          <a:solidFill>
            <a:srgbClr val="00B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765792" y="5349240"/>
            <a:ext cx="22402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A1A2F"/>
                </a:solidFill>
              </a:rP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765792" y="6007608"/>
            <a:ext cx="22402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A1A2F"/>
                </a:solidFill>
              </a:rPr>
              <a:t>Hash Algorithms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64008" cy="5852160"/>
          </a:xfrm>
          <a:prstGeom prst="rect">
            <a:avLst/>
          </a:prstGeom>
          <a:solidFill>
            <a:srgbClr val="00B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37160"/>
            <a:ext cx="11521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APIGuard — API Security Testing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170432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A1A2F"/>
                </a:solidFill>
              </a:rPr>
              <a:t>  ▶  Parses OpenAPI 3.x, Swagger 2.0, GraphQL, and Postman collections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627632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A1A2F"/>
                </a:solidFill>
              </a:rPr>
              <a:t>  ▶  Full OWASP API Security Top 10 coverage (A1–A10)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084832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445566"/>
                </a:solidFill>
              </a:rPr>
              <a:t>    ◦  A1: BOLA  ·  A2: Broken Auth  ·  A3: Mass Assignment  ·  A4: Rate Limiting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478024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445566"/>
                </a:solidFill>
              </a:rPr>
              <a:t>    ◦  A5: Function Auth  ·  A6: Sensitive Flows  ·  A7: SSRF  ·  A8-A10: Advanced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871216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A1A2F"/>
                </a:solidFill>
              </a:rPr>
              <a:t>  ▶  CVSS 3.1 scoring on every finding — prioritise by real risk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328416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A1A2F"/>
                </a:solidFill>
              </a:rPr>
              <a:t>  ▶  Output: SARIF · HTML · JSON · plain-text — native CI/CD integration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785616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A1A2F"/>
                </a:solidFill>
              </a:rPr>
              <a:t>  ▶  React dashboard: scan history, finding trends, regression detection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4242816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A1A2F"/>
                </a:solidFill>
              </a:rPr>
              <a:t>  ▶  APIGuard scans itself — the ecosystem's own APIs are continuously tested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64008" cy="5852160"/>
          </a:xfrm>
          <a:prstGeom prst="rect">
            <a:avLst/>
          </a:prstGeom>
          <a:solidFill>
            <a:srgbClr val="00B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37160"/>
            <a:ext cx="11521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NIS2 Compass — Regulatory Compliance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170432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A1A2F"/>
                </a:solidFill>
              </a:rPr>
              <a:t>  ▶  Maps all 10 NIS2 Article 21(2) technical measures (A through J)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627632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445566"/>
                </a:solidFill>
              </a:rPr>
              <a:t>    ◦  (a) Risk analysis  ·  (b) Incident handling  ·  (c) Business continuity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020824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445566"/>
                </a:solidFill>
              </a:rPr>
              <a:t>    ◦  (d) Supply chain  ·  (e) Network security  ·  (f) Effectiveness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414016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445566"/>
                </a:solidFill>
              </a:rPr>
              <a:t>    ◦  (g) Cyber hygiene  ·  (h) Cryptography  ·  (i) HR security  ·  (j) Access control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807208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A1A2F"/>
                </a:solidFill>
              </a:rPr>
              <a:t>  ▶  Evidence artefacts — cryptographic hashes stored per control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264408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A1A2F"/>
                </a:solidFill>
              </a:rPr>
              <a:t>  ▶  Assessment workflows with dual-person verifier sign-off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721608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A1A2F"/>
                </a:solidFill>
              </a:rPr>
              <a:t>  ▶  CITADEL webhook: compliance state changes trigger VIGIL advisories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4178808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A1A2F"/>
                </a:solidFill>
              </a:rPr>
              <a:t>  ▶  Regulator-ready output: PDF + JSON with full evidence chain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64008" cy="5852160"/>
          </a:xfrm>
          <a:prstGeom prst="rect">
            <a:avLst/>
          </a:prstGeom>
          <a:solidFill>
            <a:srgbClr val="00B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37160"/>
            <a:ext cx="11521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CITADEL — The Governance Engine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1234440"/>
            <a:ext cx="2240280" cy="1645920"/>
          </a:xfrm>
          <a:prstGeom prst="rect">
            <a:avLst/>
          </a:prstGeom>
          <a:solidFill>
            <a:srgbClr val="00C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8328" y="1325880"/>
            <a:ext cx="2057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FB2"/>
                </a:solidFill>
              </a:rPr>
              <a:t>MARSHAL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" y="1709928"/>
            <a:ext cx="2057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5-Gate Decision
Engine</a:t>
            </a:r>
          </a:p>
        </p:txBody>
      </p:sp>
      <p:sp>
        <p:nvSpPr>
          <p:cNvPr id="9" name="Rectangle 8"/>
          <p:cNvSpPr/>
          <p:nvPr/>
        </p:nvSpPr>
        <p:spPr>
          <a:xfrm>
            <a:off x="2606040" y="1234440"/>
            <a:ext cx="2240280" cy="164592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15768" y="1325880"/>
            <a:ext cx="2057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FB2"/>
                </a:solidFill>
              </a:rPr>
              <a:t>WORM Log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15768" y="1709928"/>
            <a:ext cx="2057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Append-Only
Audit Chain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83480" y="1234440"/>
            <a:ext cx="2240280" cy="1645920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93208" y="1325880"/>
            <a:ext cx="2057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FB2"/>
                </a:solidFill>
              </a:rPr>
              <a:t>VIGIL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93208" y="1709928"/>
            <a:ext cx="2057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Real-Time
Monitor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60920" y="1234440"/>
            <a:ext cx="2240280" cy="1645920"/>
          </a:xfrm>
          <a:prstGeom prst="rect">
            <a:avLst/>
          </a:prstGeom>
          <a:solidFill>
            <a:srgbClr val="FF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70648" y="1325880"/>
            <a:ext cx="2057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FB2"/>
                </a:solidFill>
              </a:rPr>
              <a:t>AUGUR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70648" y="1709928"/>
            <a:ext cx="2057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9 Advisory
Rules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738360" y="1234440"/>
            <a:ext cx="2240280" cy="1645920"/>
          </a:xfrm>
          <a:prstGeom prst="rect">
            <a:avLst/>
          </a:prstGeom>
          <a:solidFill>
            <a:srgbClr val="550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48088" y="1325880"/>
            <a:ext cx="2057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FB2"/>
                </a:solidFill>
              </a:rPr>
              <a:t>Anchor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48088" y="1709928"/>
            <a:ext cx="2057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Ed25519
Key Rotation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" y="3063240"/>
            <a:ext cx="1161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00BFB2"/>
                </a:solidFill>
              </a:rPr>
              <a:t>⟵── All components write signed events to the WORM log ──⟶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365760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45566"/>
                </a:solidFill>
              </a:rPr>
              <a:t>  ▶  Connector auth: HMAC-SHA256 — X-CITADEL-KEY · X-CITADEL-TS · X-CITADEL-SIG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4133088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45566"/>
                </a:solidFill>
              </a:rPr>
              <a:t>  ▶  Admin auth: HS256 JWT — group_sig_admin · group_sig_auditor roles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4608576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45566"/>
                </a:solidFill>
              </a:rPr>
              <a:t>  ▶  Two-bucket sliding window: (key_id, ts, sig) nonces are one-time only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508406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45566"/>
                </a:solidFill>
              </a:rPr>
              <a:t>  ▶  All decisions immutable: EXECUTE · REFUSE · HARD_STOP — WORM-logged forever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34640"/>
            <a:ext cx="12188952" cy="54864"/>
          </a:xfrm>
          <a:prstGeom prst="rect">
            <a:avLst/>
          </a:prstGeom>
          <a:solidFill>
            <a:srgbClr val="00B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2103120"/>
            <a:ext cx="121889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BFB2"/>
                </a:solidFill>
              </a:rPr>
              <a:t>SECTION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1752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</a:rPr>
              <a:t>Five-Layer Defence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48056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E6EAF0"/>
                </a:solidFill>
              </a:rPr>
              <a:t>Identity · Network · Host · Application · Data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64008" cy="5852160"/>
          </a:xfrm>
          <a:prstGeom prst="rect">
            <a:avLst/>
          </a:prstGeom>
          <a:solidFill>
            <a:srgbClr val="00B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37160"/>
            <a:ext cx="11521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Five-Layer Defence — Concentric Security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234440"/>
            <a:ext cx="11640312" cy="841248"/>
          </a:xfrm>
          <a:prstGeom prst="rect">
            <a:avLst/>
          </a:prstGeom>
          <a:solidFill>
            <a:srgbClr val="00B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129844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L5  DATA FENCE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1298448"/>
            <a:ext cx="798271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WORM log · TripleHash · Ed25519 anchors · Triple backup · DR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148840"/>
            <a:ext cx="10908792" cy="841248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221284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L4  APPLICATION FENCE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60" y="2212848"/>
            <a:ext cx="72511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APIGuard · MARSHAL gates · VIGIL · AUGUR · Input validation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05840" y="3063240"/>
            <a:ext cx="10177272" cy="841248"/>
          </a:xfrm>
          <a:prstGeom prst="rect">
            <a:avLst/>
          </a:prstGeom>
          <a:solidFill>
            <a:srgbClr val="550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5568" y="312724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L3  HOST FENCE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3127248"/>
            <a:ext cx="651967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Kubernetes · Least-privilege containers · Pinned dependencies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371600" y="3977640"/>
            <a:ext cx="9445752" cy="841248"/>
          </a:xfrm>
          <a:prstGeom prst="rect">
            <a:avLst/>
          </a:prstGeom>
          <a:solidFill>
            <a:srgbClr val="00C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81328" y="404164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L2  NETWORK FENCE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4041648"/>
            <a:ext cx="578815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Rate limiting · TLS 1.2+ · Replay protection · CORS · Isolation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737360" y="4892040"/>
            <a:ext cx="8714232" cy="841248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847088" y="495604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L1  IDENTITY FENCE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0640" y="4956048"/>
            <a:ext cx="505663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JWT · API keys · HMAC-SHA256 · SoD enforcement · Role groups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64008" cy="5852160"/>
          </a:xfrm>
          <a:prstGeom prst="rect">
            <a:avLst/>
          </a:prstGeom>
          <a:solidFill>
            <a:srgbClr val="00B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37160"/>
            <a:ext cx="11521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Layer-by-Layer: What Stops What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170432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A1A2F"/>
                </a:solidFill>
              </a:rPr>
              <a:t>  ▶  L1 Identity: SoD enforcement — operator ≠ verifier, cryptographically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627632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445566"/>
                </a:solidFill>
              </a:rPr>
              <a:t>    ◦  Stolen credential alone is insufficient — the attacker also needs the verifier account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020824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A1A2F"/>
                </a:solidFill>
              </a:rPr>
              <a:t>  ▶  L2 Network: rate limiting, TLS 1.2+, replay protection ±300s window, CORS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478024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445566"/>
                </a:solidFill>
              </a:rPr>
              <a:t>    ◦  Two-bucket sliding window: (key_id, ts, sig) tuples are one-time use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871216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A1A2F"/>
                </a:solidFill>
              </a:rPr>
              <a:t>  ▶  L3 Host: non-root containers, pinned dependencies, supply-chain checksums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328416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445566"/>
                </a:solidFill>
              </a:rPr>
              <a:t>    ◦  Kubernetes least-privilege — container escape has minimal blast radius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721608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A1A2F"/>
                </a:solidFill>
              </a:rPr>
              <a:t>  ▶  L4 Application: MARSHAL gates, AUGUR pre-emptive alerts, VIGIL monitoring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4178808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445566"/>
                </a:solidFill>
              </a:rPr>
              <a:t>    ◦  APIGuard continuously scans the ecosystem's own APIs — self-defending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57200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A1A2F"/>
                </a:solidFill>
              </a:rPr>
              <a:t>  ▶  L5 Data: WORM log immutability, TripleHash, Ed25519 anchors, triple backup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502920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445566"/>
                </a:solidFill>
              </a:rPr>
              <a:t>    ◦  After any recovery: the chain can be cryptographically re-verified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34640"/>
            <a:ext cx="12188952" cy="54864"/>
          </a:xfrm>
          <a:prstGeom prst="rect">
            <a:avLst/>
          </a:prstGeom>
          <a:solidFill>
            <a:srgbClr val="00B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2103120"/>
            <a:ext cx="121889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BFB2"/>
                </a:solidFill>
              </a:rPr>
              <a:t>SECTION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1752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</a:rPr>
              <a:t>The Secure Operating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48056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E6EAF0"/>
                </a:solidFill>
              </a:rPr>
              <a:t>Microkernel · Grid Sandboxes · Ecosystem Integration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64008" cy="5852160"/>
          </a:xfrm>
          <a:prstGeom prst="rect">
            <a:avLst/>
          </a:prstGeom>
          <a:solidFill>
            <a:srgbClr val="00B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37160"/>
            <a:ext cx="11521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Why Build a Secure OS from Scratch?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170432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A1A2F"/>
                </a:solidFill>
              </a:rPr>
              <a:t>  ▶  Modern operating systems were not designed for zero-trust governance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627632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445566"/>
                </a:solidFill>
              </a:rPr>
              <a:t>    ◦  Monolithic kernels: millions of lines of code in privileged space — huge attack surface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020824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445566"/>
                </a:solidFill>
              </a:rPr>
              <a:t>    ◦  Retrofitted security: SELinux, AppArmor add policy but not 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414016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A1A2F"/>
                </a:solidFill>
              </a:rPr>
              <a:t>  ▶  Our approach: microkernel + capability-based security from the ground 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871216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445566"/>
                </a:solidFill>
              </a:rPr>
              <a:t>    ◦  Only IPC, memory management, and thread scheduling run in kernel space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264408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445566"/>
                </a:solidFill>
              </a:rPr>
              <a:t>    ◦  Every driver, filesystem, network stack runs in isolated user-space processes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65760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A1A2F"/>
                </a:solidFill>
              </a:rPr>
              <a:t>  ▶  Grid sandbox model: applications live in cryptographically isolated cells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411480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445566"/>
                </a:solidFill>
              </a:rPr>
              <a:t>    ◦  Cross-cell communication is governed by CITADEL MARSHAL — logged, auditable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507992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A1A2F"/>
                </a:solidFill>
              </a:rPr>
              <a:t>  ▶  opensecstack runs natively inside the OS — governance is infrastructure, not application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64008" cy="5852160"/>
          </a:xfrm>
          <a:prstGeom prst="rect">
            <a:avLst/>
          </a:prstGeom>
          <a:solidFill>
            <a:srgbClr val="00B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37160"/>
            <a:ext cx="11521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Microkernel Architecture — Minimal Trusted Core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0" y="1234440"/>
            <a:ext cx="4480560" cy="1188720"/>
          </a:xfrm>
          <a:prstGeom prst="rect">
            <a:avLst/>
          </a:prstGeom>
          <a:solidFill>
            <a:srgbClr val="0A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950208" y="1325880"/>
            <a:ext cx="4297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FB2"/>
                </a:solidFill>
              </a:rPr>
              <a:t>KERNEL SPACE
(Trusted Core)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50208" y="1709928"/>
            <a:ext cx="4297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IPC · Memory Management
Thread Scheduling only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251460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445566"/>
                </a:solidFill>
              </a:rPr>
              <a:t>USER SPACE — All services isolated, communicate via IPC only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743200"/>
            <a:ext cx="2468880" cy="13716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" y="2834640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FB2"/>
                </a:solidFill>
              </a:rPr>
              <a:t>Drivers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" y="3218688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GPU · NIC · Storage
in user space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26080" y="2743200"/>
            <a:ext cx="2468880" cy="1371600"/>
          </a:xfrm>
          <a:prstGeom prst="rect">
            <a:avLst/>
          </a:prstGeom>
          <a:solidFill>
            <a:srgbClr val="00C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35808" y="2834640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FB2"/>
                </a:solidFill>
              </a:rPr>
              <a:t>File Systems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35808" y="3218688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ext4 · NTFS · tmpfs
isolated processes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577840" y="2743200"/>
            <a:ext cx="2468880" cy="1371600"/>
          </a:xfrm>
          <a:prstGeom prst="rect">
            <a:avLst/>
          </a:prstGeom>
          <a:solidFill>
            <a:srgbClr val="550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87568" y="2834640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FB2"/>
                </a:solidFill>
              </a:rPr>
              <a:t>Network Stack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87568" y="3218688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TCP/IP · TLS layer
in sandbox cell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0" y="2743200"/>
            <a:ext cx="2468880" cy="1371600"/>
          </a:xfrm>
          <a:prstGeom prst="rect">
            <a:avLst/>
          </a:prstGeom>
          <a:solidFill>
            <a:srgbClr val="00B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39328" y="2834640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FB2"/>
                </a:solidFill>
              </a:rPr>
              <a:t>CITADEL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39328" y="3218688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Governance layer
native kernel service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577840" y="4343400"/>
            <a:ext cx="5120640" cy="1005840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87568" y="4434840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FB2"/>
                </a:solidFill>
              </a:rPr>
              <a:t>App Runtime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87568" y="4818888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Grid-sandboxed
user applications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" y="5760720"/>
            <a:ext cx="11612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FF3344"/>
                </a:solidFill>
              </a:rPr>
              <a:t>vs Monolithic: millions of lines in kernel space — single CVE can own the whole machine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64008" cy="5852160"/>
          </a:xfrm>
          <a:prstGeom prst="rect">
            <a:avLst/>
          </a:prstGeom>
          <a:solidFill>
            <a:srgbClr val="00B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37160"/>
            <a:ext cx="11521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Desktop OS — 6 Security Layers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234440"/>
            <a:ext cx="11612880" cy="822960"/>
          </a:xfrm>
          <a:prstGeom prst="rect">
            <a:avLst/>
          </a:prstGeom>
          <a:solidFill>
            <a:srgbClr val="226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307592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L6  USER INTERFACE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0" y="1307592"/>
            <a:ext cx="77724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App shell · Dashboard · Browser — sandboxed cells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121408"/>
            <a:ext cx="11612880" cy="8229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21945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L5  APP RUNTIME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2194560"/>
            <a:ext cx="77724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Language runtimes · Containers — each in grid cell, MARSHAL-gated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008376"/>
            <a:ext cx="11612880" cy="822960"/>
          </a:xfrm>
          <a:prstGeom prst="rect">
            <a:avLst/>
          </a:prstGeom>
          <a:solidFill>
            <a:srgbClr val="00B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3081528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L4  CITADEL LAYER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0" y="3081528"/>
            <a:ext cx="77724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MARSHAL · VIGIL · AUGUR — governance native to the kernel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895344"/>
            <a:ext cx="11612880" cy="822960"/>
          </a:xfrm>
          <a:prstGeom prst="rect">
            <a:avLst/>
          </a:prstGeom>
          <a:solidFill>
            <a:srgbClr val="550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3968496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L3  OS SERVICES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31920" y="3968496"/>
            <a:ext cx="77724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Filesystems · Network · Audio — isolated user-space processes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4782312"/>
            <a:ext cx="11612880" cy="822960"/>
          </a:xfrm>
          <a:prstGeom prst="rect">
            <a:avLst/>
          </a:prstGeom>
          <a:solidFill>
            <a:srgbClr val="00C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80" y="4855464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L2  MICROKERNEL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31920" y="4855464"/>
            <a:ext cx="77724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IPC · Memory · Scheduling — &lt;20k lines, formally verifiable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5669280"/>
            <a:ext cx="11612880" cy="822960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5742432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L1  HARDWARE / HW SEC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31920" y="5742432"/>
            <a:ext cx="77724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Secure Boot · TPM 2.0 · HSM — Ed25519 keys in hardware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64008" cy="5852160"/>
          </a:xfrm>
          <a:prstGeom prst="rect">
            <a:avLst/>
          </a:prstGeom>
          <a:solidFill>
            <a:srgbClr val="00B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37160"/>
            <a:ext cx="11521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Mobile OS — Layers + MVNO Integration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234440"/>
            <a:ext cx="7772400" cy="822960"/>
          </a:xfrm>
          <a:prstGeom prst="rect">
            <a:avLst/>
          </a:prstGeom>
          <a:solidFill>
            <a:srgbClr val="226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30759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L6  USER INTERFACE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307592"/>
            <a:ext cx="46634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Secure dialer · Messaging · App launcher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121408"/>
            <a:ext cx="7772400" cy="8229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21945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L5  APP RUNTIME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2194560"/>
            <a:ext cx="46634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App sandbox cells — each MARSHAL-gated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008376"/>
            <a:ext cx="7772400" cy="822960"/>
          </a:xfrm>
          <a:prstGeom prst="rect">
            <a:avLst/>
          </a:prstGeom>
          <a:solidFill>
            <a:srgbClr val="00B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308152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L4  CITADEL LAYER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3081528"/>
            <a:ext cx="46634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MARSHAL · VIGIL — SIM &amp; roaming governance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895344"/>
            <a:ext cx="7772400" cy="822960"/>
          </a:xfrm>
          <a:prstGeom prst="rect">
            <a:avLst/>
          </a:prstGeom>
          <a:solidFill>
            <a:srgbClr val="00C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3968496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L3  MVNO STACK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3968496"/>
            <a:ext cx="46634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SIM provisioning · Data policies · VoIP · eSIM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4782312"/>
            <a:ext cx="7772400" cy="822960"/>
          </a:xfrm>
          <a:prstGeom prst="rect">
            <a:avLst/>
          </a:prstGeom>
          <a:solidFill>
            <a:srgbClr val="550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80" y="4855464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L2  RADIO ABSTRACTION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4855464"/>
            <a:ext cx="46634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RIL (Radio Interface Layer) — isolated process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5669280"/>
            <a:ext cx="7772400" cy="822960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574243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L1  MICROKERNEL + HW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0" y="5742432"/>
            <a:ext cx="46634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ARM TrustZone · Secure Enclave · TPM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123444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A1A2F"/>
                </a:solidFill>
              </a:rPr>
              <a:t>MVNO Governance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321040" y="1737360"/>
            <a:ext cx="3657600" cy="868680"/>
          </a:xfrm>
          <a:prstGeom prst="rect">
            <a:avLst/>
          </a:prstGeom>
          <a:solidFill>
            <a:srgbClr val="0A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80" y="1783080"/>
            <a:ext cx="3474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SIM activation →
MARSHAL EXECUTE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321040" y="2697480"/>
            <a:ext cx="3657600" cy="868680"/>
          </a:xfrm>
          <a:prstGeom prst="rect">
            <a:avLst/>
          </a:prstGeom>
          <a:solidFill>
            <a:srgbClr val="0A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80" y="2743200"/>
            <a:ext cx="3474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Data policy →
WORM logged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321040" y="3657600"/>
            <a:ext cx="3657600" cy="868680"/>
          </a:xfrm>
          <a:prstGeom prst="rect">
            <a:avLst/>
          </a:prstGeom>
          <a:solidFill>
            <a:srgbClr val="0A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12480" y="3703320"/>
            <a:ext cx="3474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Roaming →
SoD enforced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321040" y="4617720"/>
            <a:ext cx="3657600" cy="868680"/>
          </a:xfrm>
          <a:prstGeom prst="rect">
            <a:avLst/>
          </a:prstGeom>
          <a:solidFill>
            <a:srgbClr val="0A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12480" y="4663440"/>
            <a:ext cx="3474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eSIM provision →
Audit trail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321040" y="5577840"/>
            <a:ext cx="3657600" cy="868680"/>
          </a:xfrm>
          <a:prstGeom prst="rect">
            <a:avLst/>
          </a:prstGeom>
          <a:solidFill>
            <a:srgbClr val="0A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12480" y="5623560"/>
            <a:ext cx="3474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VoIP call →
Encrypted + hashed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64008" cy="5852160"/>
          </a:xfrm>
          <a:prstGeom prst="rect">
            <a:avLst/>
          </a:prstGeom>
          <a:solidFill>
            <a:srgbClr val="00B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37160"/>
            <a:ext cx="11521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Grid Sandboxes — Cryptographic Isolation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170432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A1A2F"/>
                </a:solidFill>
              </a:rPr>
              <a:t>  ▶  Each application occupies exactly one sandbox cell in the grid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627632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445566"/>
                </a:solidFill>
              </a:rPr>
              <a:t>    ◦  Cells are isolated at kernel level — no shared memory, no shared file descriptors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020824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445566"/>
                </a:solidFill>
              </a:rPr>
              <a:t>    ◦  Cell identity is a cryptographic capability token, not a PID or user ID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414016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A1A2F"/>
                </a:solidFill>
              </a:rPr>
              <a:t>  ▶  Communication between cells requires a MARSHAL-issued channel permit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871216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445566"/>
                </a:solidFill>
              </a:rPr>
              <a:t>    ◦  Channel permit: signed by CITADEL, time-bounded, audited in WORM log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264408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445566"/>
                </a:solidFill>
              </a:rPr>
              <a:t>    ◦  No direct inter-process calls — all IPC passes through the governance layer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65760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A1A2F"/>
                </a:solidFill>
              </a:rPr>
              <a:t>  ▶  Sandbox cells are layered: Tier 1 (critical), Tier 2 (trusted), Tier 3 (untrusted)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411480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445566"/>
                </a:solidFill>
              </a:rPr>
              <a:t>    ◦  Tier 1 ↔ Tier 2: MARSHAL second-hand evaluation (&lt;300ms)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507992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445566"/>
                </a:solidFill>
              </a:rPr>
              <a:t>    ◦  Tier 2 ↔ Tier 3: MARSHAL with evidence requirement (minute-hand)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4901184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A1A2F"/>
                </a:solidFill>
              </a:rPr>
              <a:t>  ▶  VIGIL monitors cell health — anomalous IPC patterns raise AUGUR advisories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34640"/>
            <a:ext cx="12188952" cy="54864"/>
          </a:xfrm>
          <a:prstGeom prst="rect">
            <a:avLst/>
          </a:prstGeom>
          <a:solidFill>
            <a:srgbClr val="00B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2103120"/>
            <a:ext cx="121889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BFB2"/>
                </a:solidFill>
              </a:rPr>
              <a:t>SECTION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1752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</a:rPr>
              <a:t>Blockchain &amp; Triple Hashing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48056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E6EAF0"/>
                </a:solidFill>
              </a:rPr>
              <a:t>SHA-256 · SHA-512 · BLAKE3 — Time-Aligned Cryptography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64008" cy="5852160"/>
          </a:xfrm>
          <a:prstGeom prst="rect">
            <a:avLst/>
          </a:prstGeom>
          <a:solidFill>
            <a:srgbClr val="00B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37160"/>
            <a:ext cx="11521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Why Blockchain-Inspired Design?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170432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A1A2F"/>
                </a:solidFill>
              </a:rPr>
              <a:t>  ▶  Traditional audit logs: stored in mutable databases — deleted, edited, fabricated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627632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A1A2F"/>
                </a:solidFill>
              </a:rPr>
              <a:t>  ▶  Public blockchains: decentralised but slow, expensive, complex governance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084832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A1A2F"/>
                </a:solidFill>
              </a:rPr>
              <a:t>  ▶  Our model: cryptographic chain — blockchain's integrity, without its overhead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542032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445566"/>
                </a:solidFill>
              </a:rPr>
              <a:t>    ◦  Append-only: no UPDATE, no DELETE — enforced at database trigger level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935224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445566"/>
                </a:solidFill>
              </a:rPr>
              <a:t>    ◦  Chain hashing: changing one entry invalidates every entry that follows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328416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445566"/>
                </a:solidFill>
              </a:rPr>
              <a:t>    ◦  Anchoring: periodic Ed25519 signatures seal the chain history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721608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A1A2F"/>
                </a:solidFill>
              </a:rPr>
              <a:t>  ▶  The result: a forensically sound, self-verifying audit trail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4178808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445566"/>
                </a:solidFill>
              </a:rPr>
              <a:t>    ◦  Any third party can verify the entire chain with only the genesis hash + public key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57200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445566"/>
                </a:solidFill>
              </a:rPr>
              <a:t>    ◦  No trusted authority required — mathematical proof is the authority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64008" cy="5852160"/>
          </a:xfrm>
          <a:prstGeom prst="rect">
            <a:avLst/>
          </a:prstGeom>
          <a:solidFill>
            <a:srgbClr val="00B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37160"/>
            <a:ext cx="11521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SHA-256 — WORM Chain Integrity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2560320" cy="658368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35608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Output size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1371600"/>
            <a:ext cx="8778240" cy="658368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54680" y="1435608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A1A2F"/>
                </a:solidFill>
              </a:rPr>
              <a:t>256 bits / 32 bytes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130552"/>
            <a:ext cx="2560320" cy="658368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19456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TDS tier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17520" y="2130552"/>
            <a:ext cx="8778240" cy="658368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54680" y="219456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A1A2F"/>
                </a:solidFill>
              </a:rPr>
              <a:t>MINUTE HAND  (300ms – 30s)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889504"/>
            <a:ext cx="2560320" cy="658368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953512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Used for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017520" y="2889504"/>
            <a:ext cx="8778240" cy="658368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154680" y="2953512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A1A2F"/>
                </a:solidFill>
              </a:rPr>
              <a:t>WORM chain hashing — chain_hash = SHA-256(prev || payload)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648456"/>
            <a:ext cx="2560320" cy="658368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712464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Property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3648456"/>
            <a:ext cx="8778240" cy="658368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154680" y="3712464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A1A2F"/>
                </a:solidFill>
              </a:rPr>
              <a:t>Collision resistant — changing any byte changes the entire digest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4407408"/>
            <a:ext cx="2560320" cy="658368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4471416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Standardised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017520" y="4407408"/>
            <a:ext cx="8778240" cy="658368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154680" y="4471416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A1A2F"/>
                </a:solidFill>
              </a:rPr>
              <a:t>NIST FIPS 180-4 — accepted in all EU regulatory frameworks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5166360"/>
            <a:ext cx="2560320" cy="658368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5230368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Where used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017520" y="5166360"/>
            <a:ext cx="8778240" cy="658368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154680" y="5230368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A1A2F"/>
                </a:solidFill>
              </a:rPr>
              <a:t>Every WORM entry · Connector auth body hash · VIGIL_DEEP report hash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630936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66CC"/>
                </a:solidFill>
              </a:rPr>
              <a:t>SHA-256 is the chain's backbone — every WORM entry depends on every previous hash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64008" cy="5852160"/>
          </a:xfrm>
          <a:prstGeom prst="rect">
            <a:avLst/>
          </a:prstGeom>
          <a:solidFill>
            <a:srgbClr val="00B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37160"/>
            <a:ext cx="11521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SHA-512 — Archival &amp; Anchor Signing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2560320" cy="658368"/>
          </a:xfrm>
          <a:prstGeom prst="rect">
            <a:avLst/>
          </a:prstGeom>
          <a:solidFill>
            <a:srgbClr val="550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35608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Output size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1371600"/>
            <a:ext cx="8778240" cy="658368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54680" y="1435608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A1A2F"/>
                </a:solidFill>
              </a:rPr>
              <a:t>512 bits / 64 bytes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130552"/>
            <a:ext cx="2560320" cy="658368"/>
          </a:xfrm>
          <a:prstGeom prst="rect">
            <a:avLst/>
          </a:prstGeom>
          <a:solidFill>
            <a:srgbClr val="550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19456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TDS tier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17520" y="2130552"/>
            <a:ext cx="8778240" cy="658368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54680" y="219456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A1A2F"/>
                </a:solidFill>
              </a:rPr>
              <a:t>HOUR HAND  (&gt;30s) — archival and anchor signing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889504"/>
            <a:ext cx="2560320" cy="658368"/>
          </a:xfrm>
          <a:prstGeom prst="rect">
            <a:avLst/>
          </a:prstGeom>
          <a:solidFill>
            <a:srgbClr val="550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953512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Used for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017520" y="2889504"/>
            <a:ext cx="8778240" cy="658368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154680" y="2953512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A1A2F"/>
                </a:solidFill>
              </a:rPr>
              <a:t>Long-term integrity of archived evidence and Ed25519 anchor payloads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648456"/>
            <a:ext cx="2560320" cy="658368"/>
          </a:xfrm>
          <a:prstGeom prst="rect">
            <a:avLst/>
          </a:prstGeom>
          <a:solidFill>
            <a:srgbClr val="550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712464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Property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3648456"/>
            <a:ext cx="8778240" cy="658368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154680" y="3712464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A1A2F"/>
                </a:solidFill>
              </a:rPr>
              <a:t>128-bit security margin — quantum-resistant for 40+ year retention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4407408"/>
            <a:ext cx="2560320" cy="658368"/>
          </a:xfrm>
          <a:prstGeom prst="rect">
            <a:avLst/>
          </a:prstGeom>
          <a:solidFill>
            <a:srgbClr val="550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4471416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Standardised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017520" y="4407408"/>
            <a:ext cx="8778240" cy="658368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154680" y="4471416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A1A2F"/>
                </a:solidFill>
              </a:rPr>
              <a:t>NIST FIPS 180-4 — required for EU long-term evidence under eIDAS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5166360"/>
            <a:ext cx="2560320" cy="658368"/>
          </a:xfrm>
          <a:prstGeom prst="rect">
            <a:avLst/>
          </a:prstGeom>
          <a:solidFill>
            <a:srgbClr val="550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5230368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Where used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017520" y="5166360"/>
            <a:ext cx="8778240" cy="658368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154680" y="5230368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A1A2F"/>
                </a:solidFill>
              </a:rPr>
              <a:t>TripleHash composite · VIGIL_DEEP archival reports · Signed chain exports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630936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5500CC"/>
                </a:solidFill>
              </a:rPr>
              <a:t>SHA-512 makes the archive unforgeable across decades — even by quantum computers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64008" cy="5852160"/>
          </a:xfrm>
          <a:prstGeom prst="rect">
            <a:avLst/>
          </a:prstGeom>
          <a:solidFill>
            <a:srgbClr val="00B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37160"/>
            <a:ext cx="11521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BLAKE3 — Real-Time Speed &amp; Security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2560320" cy="658368"/>
          </a:xfrm>
          <a:prstGeom prst="rect">
            <a:avLst/>
          </a:prstGeom>
          <a:solidFill>
            <a:srgbClr val="00C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35608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Output size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1371600"/>
            <a:ext cx="8778240" cy="658368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54680" y="1435608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A1A2F"/>
                </a:solidFill>
              </a:rPr>
              <a:t>256 bits / 32 bytes (configurable up to 128 bytes)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130552"/>
            <a:ext cx="2560320" cy="658368"/>
          </a:xfrm>
          <a:prstGeom prst="rect">
            <a:avLst/>
          </a:prstGeom>
          <a:solidFill>
            <a:srgbClr val="00C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19456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TDS tier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17520" y="2130552"/>
            <a:ext cx="8778240" cy="658368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54680" y="219456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A1A2F"/>
                </a:solidFill>
              </a:rPr>
              <a:t>SECOND HAND  (&lt;300ms) — per-request real-time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889504"/>
            <a:ext cx="2560320" cy="658368"/>
          </a:xfrm>
          <a:prstGeom prst="rect">
            <a:avLst/>
          </a:prstGeom>
          <a:solidFill>
            <a:srgbClr val="00C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953512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Used for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017520" y="2889504"/>
            <a:ext cx="8778240" cy="658368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154680" y="2953512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A1A2F"/>
                </a:solidFill>
              </a:rPr>
              <a:t>Real-time integrity checks — WORM payload verification at ingestion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648456"/>
            <a:ext cx="2560320" cy="658368"/>
          </a:xfrm>
          <a:prstGeom prst="rect">
            <a:avLst/>
          </a:prstGeom>
          <a:solidFill>
            <a:srgbClr val="00C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712464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Property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3648456"/>
            <a:ext cx="8778240" cy="658368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154680" y="3712464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A1A2F"/>
                </a:solidFill>
              </a:rPr>
              <a:t>12× faster than SHA-256 on modern hardware — SIMD parallelism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4407408"/>
            <a:ext cx="2560320" cy="658368"/>
          </a:xfrm>
          <a:prstGeom prst="rect">
            <a:avLst/>
          </a:prstGeom>
          <a:solidFill>
            <a:srgbClr val="00C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4471416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vs SHA-3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017520" y="4407408"/>
            <a:ext cx="8778240" cy="658368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154680" y="4471416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A1A2F"/>
                </a:solidFill>
              </a:rPr>
              <a:t>Same security level, vastly higher throughput — ideal for streaming data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5166360"/>
            <a:ext cx="2560320" cy="658368"/>
          </a:xfrm>
          <a:prstGeom prst="rect">
            <a:avLst/>
          </a:prstGeom>
          <a:solidFill>
            <a:srgbClr val="00C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5230368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Where used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017520" y="5166360"/>
            <a:ext cx="8778240" cy="658368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154680" y="5230368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A1A2F"/>
                </a:solidFill>
              </a:rPr>
              <a:t>TripleHash composite · TDS scanner latency checks · Per-request hashing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630936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C87A"/>
                </a:solidFill>
              </a:rPr>
              <a:t>BLAKE3 is the speed layer — real-time verification without latency cost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64008" cy="5852160"/>
          </a:xfrm>
          <a:prstGeom prst="rect">
            <a:avLst/>
          </a:prstGeom>
          <a:solidFill>
            <a:srgbClr val="00B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37160"/>
            <a:ext cx="11521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TripleHash — 128-byte Composite Digest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18872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445566"/>
                </a:solidFill>
              </a:rPr>
              <a:t>TripleHash combines all three algorithms into a single 128-byte composite — all three must be broken simultaneously to forge any record.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011680"/>
            <a:ext cx="3017520" cy="1828800"/>
          </a:xfrm>
          <a:prstGeom prst="rect">
            <a:avLst/>
          </a:prstGeom>
          <a:solidFill>
            <a:srgbClr val="00C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084831"/>
            <a:ext cx="2834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BLAKE3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79192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</a:rPr>
              <a:t>32 bytes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108960"/>
            <a:ext cx="2834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FFFFFF"/>
                </a:solidFill>
              </a:rPr>
              <a:t>Real-time
Second hand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2286000"/>
            <a:ext cx="548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BFB2"/>
                </a:solidFill>
              </a:rPr>
              <a:t>+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0" y="2011680"/>
            <a:ext cx="3017520" cy="18288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06240" y="2084831"/>
            <a:ext cx="2834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SHA-256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0" y="2679192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</a:rPr>
              <a:t>32 bytes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06240" y="3108960"/>
            <a:ext cx="2834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FFFFFF"/>
                </a:solidFill>
              </a:rPr>
              <a:t>WORM chain
Minute hand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0" y="2286000"/>
            <a:ext cx="548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BFB2"/>
                </a:solidFill>
              </a:rPr>
              <a:t>+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63840" y="2011680"/>
            <a:ext cx="3017520" cy="1828800"/>
          </a:xfrm>
          <a:prstGeom prst="rect">
            <a:avLst/>
          </a:prstGeom>
          <a:solidFill>
            <a:srgbClr val="550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55280" y="2084831"/>
            <a:ext cx="2834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SHA-512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80" y="2679192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</a:rPr>
              <a:t>64 bytes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80" y="3108960"/>
            <a:ext cx="2834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FFFFFF"/>
                </a:solidFill>
              </a:rPr>
              <a:t>Archival
Hour hand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0" y="2286000"/>
            <a:ext cx="548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BFB2"/>
                </a:solidFill>
              </a:rPr>
              <a:t>=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4206240"/>
            <a:ext cx="11430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A1A2F"/>
                </a:solidFill>
              </a:rPr>
              <a:t>  ▶  Any single hash broken → record still protected by remaining two algorithms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4663440"/>
            <a:ext cx="11430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A1A2F"/>
                </a:solidFill>
              </a:rPr>
              <a:t>  ▶  SHA-256 + SHA-512 are FIPS-approved → EU regulatory compliance guaranteed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5120640"/>
            <a:ext cx="11430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A1A2F"/>
                </a:solidFill>
              </a:rPr>
              <a:t>  ▶  BLAKE3 provides sub-millisecond integrity checking at ingestion time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5577840"/>
            <a:ext cx="11430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A1A2F"/>
                </a:solidFill>
              </a:rPr>
              <a:t>  ▶  128-byte digest stored in WORM log — verifiable offline, forever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64008" cy="5852160"/>
          </a:xfrm>
          <a:prstGeom prst="rect">
            <a:avLst/>
          </a:prstGeom>
          <a:solidFill>
            <a:srgbClr val="00B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37160"/>
            <a:ext cx="11521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Time Dimension Segmentation — Hash + Latency Alignment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1887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445566"/>
                </a:solidFill>
              </a:rPr>
              <a:t>TDS maps every operation to a latency tier — the hash algorithm chosen must match the tier.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828800"/>
            <a:ext cx="3749039" cy="3840480"/>
          </a:xfrm>
          <a:prstGeom prst="rect">
            <a:avLst/>
          </a:prstGeom>
          <a:solidFill>
            <a:srgbClr val="00C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901952"/>
            <a:ext cx="37490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SECOND HAND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395728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FFFFFF"/>
                </a:solidFill>
              </a:rPr>
              <a:t>&lt; 300ms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88720" y="2834640"/>
            <a:ext cx="2103120" cy="502920"/>
          </a:xfrm>
          <a:prstGeom prst="rect">
            <a:avLst/>
          </a:prstGeom>
          <a:solidFill>
            <a:srgbClr val="0A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2862072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BLAKE3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493008"/>
            <a:ext cx="35661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Per-request WORM ingestion
Sandbox IPC verification
MARSHAL pre-check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0" y="1828800"/>
            <a:ext cx="3749039" cy="38404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97680" y="1901952"/>
            <a:ext cx="37490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MINUTE HAND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2395728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FFFFFF"/>
                </a:solidFill>
              </a:rPr>
              <a:t>300ms – 30s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120640" y="2834640"/>
            <a:ext cx="2103120" cy="502920"/>
          </a:xfrm>
          <a:prstGeom prst="rect">
            <a:avLst/>
          </a:prstGeom>
          <a:solidFill>
            <a:srgbClr val="0A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0640" y="2862072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SHA-256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3493008"/>
            <a:ext cx="35661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WORM chain hashing
VigilStatus refresh
Connector key lookup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0" y="1828800"/>
            <a:ext cx="3749039" cy="3840480"/>
          </a:xfrm>
          <a:prstGeom prst="rect">
            <a:avLst/>
          </a:prstGeom>
          <a:solidFill>
            <a:srgbClr val="550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0" y="1901952"/>
            <a:ext cx="37490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HOUR HAND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2395728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FFFFFF"/>
                </a:solidFill>
              </a:rPr>
              <a:t>&gt; 30s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52560" y="2834640"/>
            <a:ext cx="2103120" cy="502920"/>
          </a:xfrm>
          <a:prstGeom prst="rect">
            <a:avLst/>
          </a:prstGeom>
          <a:solidFill>
            <a:srgbClr val="0A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52560" y="2862072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SHA-512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3493008"/>
            <a:ext cx="35661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VIGIL_DEEP full audit
Archival signing
TripleHash composite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594360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FFB300"/>
                </a:solidFill>
              </a:rPr>
              <a:t>tds-scanner tool measures actual latencies in CI — any second-hand operation exceeding 300ms fails the build.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34640"/>
            <a:ext cx="12188952" cy="54864"/>
          </a:xfrm>
          <a:prstGeom prst="rect">
            <a:avLst/>
          </a:prstGeom>
          <a:solidFill>
            <a:srgbClr val="00B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2103120"/>
            <a:ext cx="121889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BFB2"/>
                </a:solidFill>
              </a:rPr>
              <a:t>SECTION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1752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</a:rPr>
              <a:t>CITADEL Deep Dive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48056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E6EAF0"/>
                </a:solidFill>
              </a:rPr>
              <a:t>MARSHAL · VIGIL · AUGUR · WORM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64008" cy="5852160"/>
          </a:xfrm>
          <a:prstGeom prst="rect">
            <a:avLst/>
          </a:prstGeom>
          <a:solidFill>
            <a:srgbClr val="00B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37160"/>
            <a:ext cx="11521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MARSHAL — 5-Gate Decision Engine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1234440"/>
            <a:ext cx="2240280" cy="3383280"/>
          </a:xfrm>
          <a:prstGeom prst="rect">
            <a:avLst/>
          </a:prstGeom>
          <a:solidFill>
            <a:srgbClr val="00C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" y="1298448"/>
            <a:ext cx="2240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G1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" y="1709928"/>
            <a:ext cx="2240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AUTHORITY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" y="2286000"/>
            <a:ext cx="22402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SoD:
Operator ≠ Verifier
Role validation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06040" y="1234440"/>
            <a:ext cx="2240280" cy="33832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06040" y="1298448"/>
            <a:ext cx="2240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G2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06040" y="1709928"/>
            <a:ext cx="2240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SCOPE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06040" y="2286000"/>
            <a:ext cx="22402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Project whitelist
Freeze detection
Action type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983480" y="1234440"/>
            <a:ext cx="2240280" cy="3383280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83480" y="1298448"/>
            <a:ext cx="2240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G3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83480" y="1709928"/>
            <a:ext cx="2240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DETERMINISM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83480" y="2286000"/>
            <a:ext cx="22402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Change/Incident ID
Trace to ticket
No orphans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60920" y="1234440"/>
            <a:ext cx="2240280" cy="3383280"/>
          </a:xfrm>
          <a:prstGeom prst="rect">
            <a:avLst/>
          </a:prstGeom>
          <a:solidFill>
            <a:srgbClr val="550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60920" y="1298448"/>
            <a:ext cx="2240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G4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60920" y="1709928"/>
            <a:ext cx="2240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EVIDENCE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60920" y="2286000"/>
            <a:ext cx="22402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Artefact hashes
Change ID link
Audit trail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738360" y="1234440"/>
            <a:ext cx="2240280" cy="3383280"/>
          </a:xfrm>
          <a:prstGeom prst="rect">
            <a:avLst/>
          </a:prstGeom>
          <a:solidFill>
            <a:srgbClr val="FF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38360" y="1298448"/>
            <a:ext cx="2240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G5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38360" y="1709928"/>
            <a:ext cx="2240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SCHEMA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38360" y="2286000"/>
            <a:ext cx="22402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Kerkese 2.0
JSON schema
Field validity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" y="4828032"/>
            <a:ext cx="1161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A1A2F"/>
                </a:solidFill>
              </a:rPr>
              <a:t>Outcome: EXECUTE  ·  REFUSE  ·  HARD_STOP — every decision WORM-logged, chain-hashed, permanent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" y="5413248"/>
            <a:ext cx="11612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445566"/>
                </a:solidFill>
              </a:rPr>
              <a:t>HARD_STOP is never suppressed — even on internal error, the record is written before the exception propagates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64008" cy="5852160"/>
          </a:xfrm>
          <a:prstGeom prst="rect">
            <a:avLst/>
          </a:prstGeom>
          <a:solidFill>
            <a:srgbClr val="00B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37160"/>
            <a:ext cx="11521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VIGIL — Real-Time &amp; Deep Audit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170432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A1A2F"/>
                </a:solidFill>
              </a:rPr>
              <a:t>  ▶  VIGIL_REALTIME: GREEN · AMBER · RED — refreshed every poll interval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627632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445566"/>
                </a:solidFill>
              </a:rPr>
              <a:t>    ◦  GREEN: no HARD_STOPs, all mirrors fresh, anchor rotation current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020824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445566"/>
                </a:solidFill>
              </a:rPr>
              <a:t>    ◦  AMBER: HIGH advisory active, or mirror staleness exceeds threshold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414016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445566"/>
                </a:solidFill>
              </a:rPr>
              <a:t>    ◦  RED: CRITICAL advisory active, or unresolved HARD_STOP incident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807208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A1A2F"/>
                </a:solidFill>
              </a:rPr>
              <a:t>  ▶  VIGIL_DEEP: daily full-chain audit — runs as hour-hand async job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264408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445566"/>
                </a:solidFill>
              </a:rPr>
              <a:t>    ◦  Chain integrity: walk every WORM entry, recompute prev→chain hash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65760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445566"/>
                </a:solidFill>
              </a:rPr>
              <a:t>    ◦  SoD violations: operator_user_id == verifier_user_id in any entry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4050792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445566"/>
                </a:solidFill>
              </a:rPr>
              <a:t>    ◦  Orphaned incidents: HARD_STOP with no subsequent close_incident EXECUTE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443984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445566"/>
                </a:solidFill>
              </a:rPr>
              <a:t>    ◦  Evidence gaps: EXECUTE outcome with no linked artefacts or change_id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4837176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445566"/>
                </a:solidFill>
              </a:rPr>
              <a:t>    ◦  Deep report: SHA-256 signed, emitted as a WORM entry — tamper-evident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64008" cy="5852160"/>
          </a:xfrm>
          <a:prstGeom prst="rect">
            <a:avLst/>
          </a:prstGeom>
          <a:solidFill>
            <a:srgbClr val="00B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37160"/>
            <a:ext cx="11521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AUGUR — 9 Predictive Advisory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80160"/>
            <a:ext cx="1005840" cy="347472"/>
          </a:xfrm>
          <a:prstGeom prst="rect">
            <a:avLst/>
          </a:prstGeom>
          <a:solidFill>
            <a:srgbClr val="00B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280160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AUG-001</a:t>
            </a:r>
          </a:p>
        </p:txBody>
      </p:sp>
      <p:sp>
        <p:nvSpPr>
          <p:cNvPr id="8" name="Rectangle 7"/>
          <p:cNvSpPr/>
          <p:nvPr/>
        </p:nvSpPr>
        <p:spPr>
          <a:xfrm>
            <a:off x="1463040" y="1280160"/>
            <a:ext cx="1371600" cy="347472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63040" y="128016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BFB2"/>
                </a:solidFill>
              </a:rPr>
              <a:t>MEDIUM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71800" y="1280160"/>
            <a:ext cx="8961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5566"/>
                </a:solidFill>
              </a:rPr>
              <a:t>Mandate expiry approaching — renew before MARSHAL Gate 1 refuses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700784"/>
            <a:ext cx="1005840" cy="347472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1700784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AUG-002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463040" y="1700784"/>
            <a:ext cx="1371600" cy="347472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63040" y="1700784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B300"/>
                </a:solidFill>
              </a:rPr>
              <a:t>HIGH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71800" y="1700784"/>
            <a:ext cx="8961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5566"/>
                </a:solidFill>
              </a:rPr>
              <a:t>Approval threshold exceeded — additional sign-off required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121408"/>
            <a:ext cx="1005840" cy="347472"/>
          </a:xfrm>
          <a:prstGeom prst="rect">
            <a:avLst/>
          </a:prstGeom>
          <a:solidFill>
            <a:srgbClr val="00B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2121408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AUG-003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463040" y="2121408"/>
            <a:ext cx="1371600" cy="347472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63040" y="2121408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BFB2"/>
                </a:solidFill>
              </a:rPr>
              <a:t>MEDIUM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71800" y="2121408"/>
            <a:ext cx="8961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5566"/>
                </a:solidFill>
              </a:rPr>
              <a:t>Vendor contract expiry — supply chain risk elevation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2542032"/>
            <a:ext cx="1005840" cy="347472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2542032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AUG-004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463040" y="2542032"/>
            <a:ext cx="1371600" cy="347472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463040" y="2542032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B300"/>
                </a:solidFill>
              </a:rPr>
              <a:t>HIGH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71800" y="2542032"/>
            <a:ext cx="8961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5566"/>
                </a:solidFill>
              </a:rPr>
              <a:t>Freeze active — MARSHAL Gate 2 will REFUSE non-emergency actions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962656"/>
            <a:ext cx="1005840" cy="347472"/>
          </a:xfrm>
          <a:prstGeom prst="rect">
            <a:avLst/>
          </a:prstGeom>
          <a:solidFill>
            <a:srgbClr val="00B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962656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AUG-005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463040" y="2962656"/>
            <a:ext cx="1371600" cy="347472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63040" y="2962656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BFB2"/>
                </a:solidFill>
              </a:rPr>
              <a:t>MEDIUM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71800" y="2962656"/>
            <a:ext cx="8961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5566"/>
                </a:solidFill>
              </a:rPr>
              <a:t>Mirror data inconsistency — cross-check ERP before proceeding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3383280"/>
            <a:ext cx="1005840" cy="347472"/>
          </a:xfrm>
          <a:prstGeom prst="rect">
            <a:avLst/>
          </a:prstGeom>
          <a:solidFill>
            <a:srgbClr val="00B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3383280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AUG-006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463040" y="3383280"/>
            <a:ext cx="1371600" cy="347472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463040" y="338328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BFB2"/>
                </a:solidFill>
              </a:rPr>
              <a:t>MEDIUM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971800" y="3383280"/>
            <a:ext cx="8961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5566"/>
                </a:solidFill>
              </a:rPr>
              <a:t>Unusual action frequency — possible anomalous automation detected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3803904"/>
            <a:ext cx="1005840" cy="347472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5760" y="3803904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AUG-007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463040" y="3803904"/>
            <a:ext cx="1371600" cy="347472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463040" y="3803904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B300"/>
                </a:solidFill>
              </a:rPr>
              <a:t>HIGH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971800" y="3803904"/>
            <a:ext cx="8961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5566"/>
                </a:solidFill>
              </a:rPr>
              <a:t>Mirror stale &gt; threshold — advisory data may be outdated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" y="4224528"/>
            <a:ext cx="1005840" cy="347472"/>
          </a:xfrm>
          <a:prstGeom prst="rect">
            <a:avLst/>
          </a:prstGeom>
          <a:solidFill>
            <a:srgbClr val="FF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5760" y="4224528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AUG-008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463040" y="4224528"/>
            <a:ext cx="1371600" cy="347472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463040" y="4224528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3344"/>
                </a:solidFill>
              </a:rPr>
              <a:t>CRITICAL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971800" y="4224528"/>
            <a:ext cx="8961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5566"/>
                </a:solidFill>
              </a:rPr>
              <a:t>Unresolved HARD_STOP — all non-emergency actions at elevated risk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65760" y="4645152"/>
            <a:ext cx="1005840" cy="347472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65760" y="4645152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AUG-009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463040" y="4645152"/>
            <a:ext cx="1371600" cy="347472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463040" y="4645152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B300"/>
                </a:solidFill>
              </a:rPr>
              <a:t>HIGH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971800" y="4645152"/>
            <a:ext cx="8961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5566"/>
                </a:solidFill>
              </a:rPr>
              <a:t>Chain anchor overdue — rotation required, timestamp trust weakens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34640"/>
            <a:ext cx="12188952" cy="54864"/>
          </a:xfrm>
          <a:prstGeom prst="rect">
            <a:avLst/>
          </a:prstGeom>
          <a:solidFill>
            <a:srgbClr val="00B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2103120"/>
            <a:ext cx="121889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BFB2"/>
                </a:solidFill>
              </a:rPr>
              <a:t>SECTION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1752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</a:rPr>
              <a:t>MVNO Integration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48056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E6EAF0"/>
                </a:solidFill>
              </a:rPr>
              <a:t>Governing Mobile Network Operations with CITADEL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64008" cy="5852160"/>
          </a:xfrm>
          <a:prstGeom prst="rect">
            <a:avLst/>
          </a:prstGeom>
          <a:solidFill>
            <a:srgbClr val="00B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37160"/>
            <a:ext cx="11521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What is an MVNO?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170432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A1A2F"/>
                </a:solidFill>
              </a:rPr>
              <a:t>  ▶  Mobile Virtual Network Operator: provides mobile services without owning spectrum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627632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445566"/>
                </a:solidFill>
              </a:rPr>
              <a:t>    ◦  Leases radio access from an MNO (e.g. Vodafone, Deutsche Telekom, Orange)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020824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445566"/>
                </a:solidFill>
              </a:rPr>
              <a:t>    ◦  Full control over: SIM provisioning, billing, data policies, roaming, VoIP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414016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A1A2F"/>
                </a:solidFill>
              </a:rPr>
              <a:t>  ▶  Why MVNO + opensecstack?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871216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445566"/>
                </a:solidFill>
              </a:rPr>
              <a:t>    ◦  Every SIM activation, data policy change, or roaming agreement is a governance event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264408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445566"/>
                </a:solidFill>
              </a:rPr>
              <a:t>    ◦  These decisions must be auditable — regulators demand proof of policy enforcement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65760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445566"/>
                </a:solidFill>
              </a:rPr>
              <a:t>    ◦  MVNO operations touch critical infrastructure — NIS2 Article 21 applies fully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4050792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A1A2F"/>
                </a:solidFill>
              </a:rPr>
              <a:t>  ▶  Our model: MVNO operations run inside the opensecstack OS on the microkernel stack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507992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445566"/>
                </a:solidFill>
              </a:rPr>
              <a:t>    ◦  Network management isolated in a Tier 1 sandbox cell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4901184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445566"/>
                </a:solidFill>
              </a:rPr>
              <a:t>    ◦  All provisioning actions evaluated by CITADEL MARSHAL before execution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64008" cy="5852160"/>
          </a:xfrm>
          <a:prstGeom prst="rect">
            <a:avLst/>
          </a:prstGeom>
          <a:solidFill>
            <a:srgbClr val="00B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37160"/>
            <a:ext cx="11521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MVNO + opensecstack — Governed Network Operations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80160"/>
            <a:ext cx="2286000" cy="77724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353312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SIM Activation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2788920" y="1280160"/>
            <a:ext cx="9144000" cy="777240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360" y="1335024"/>
            <a:ext cx="89611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A1A2F"/>
                </a:solidFill>
              </a:rPr>
              <a:t>Kerkese submitted → MARSHAL Gate 1 (SoD: activator ≠ approver)
→ EXECUTE → WORM entry → eSIM provisioned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212848"/>
            <a:ext cx="2286000" cy="777240"/>
          </a:xfrm>
          <a:prstGeom prst="rect">
            <a:avLst/>
          </a:prstGeom>
          <a:solidFill>
            <a:srgbClr val="00C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228600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Data Policy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88920" y="2212848"/>
            <a:ext cx="9144000" cy="777240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80360" y="2267712"/>
            <a:ext cx="89611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A1A2F"/>
                </a:solidFill>
              </a:rPr>
              <a:t>Policy change → Gate 2 (scope: contract type) → Gate 4 (evidence: regulatory ref)
→ EXECUTE → WORM logged → policy applied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145536"/>
            <a:ext cx="2286000" cy="777240"/>
          </a:xfrm>
          <a:prstGeom prst="rect">
            <a:avLst/>
          </a:prstGeom>
          <a:solidFill>
            <a:srgbClr val="00B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3218688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Roaming Config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88920" y="3145536"/>
            <a:ext cx="9144000" cy="777240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80360" y="3200400"/>
            <a:ext cx="89611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A1A2F"/>
                </a:solidFill>
              </a:rPr>
              <a:t>Roaming enable → Gate 1 (authority) + Gate 3 (change ID required)
→ EXECUTE → WORM → CDR hash stored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078224"/>
            <a:ext cx="2286000" cy="777240"/>
          </a:xfrm>
          <a:prstGeom prst="rect">
            <a:avLst/>
          </a:prstGeom>
          <a:solidFill>
            <a:srgbClr val="550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80" y="4151376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VoIP Trunk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88920" y="4078224"/>
            <a:ext cx="9144000" cy="777240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880360" y="4133088"/>
            <a:ext cx="89611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A1A2F"/>
                </a:solidFill>
              </a:rPr>
              <a:t>Trunk config → all 5 gates evaluated → EXECUTE + WORM
→ Real-time VIGIL health check on trunk status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5010912"/>
            <a:ext cx="2286000" cy="777240"/>
          </a:xfrm>
          <a:prstGeom prst="rect">
            <a:avLst/>
          </a:prstGeom>
          <a:solidFill>
            <a:srgbClr val="FF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80" y="5084064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Emergency Block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88920" y="5010912"/>
            <a:ext cx="9144000" cy="777240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880360" y="5065776"/>
            <a:ext cx="89611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A1A2F"/>
                </a:solidFill>
              </a:rPr>
              <a:t>SoD violation detected → HARD_STOP immediately
→ WORM logged unconditionally → AUG-008 raised → ops alerted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34640"/>
            <a:ext cx="12188952" cy="54864"/>
          </a:xfrm>
          <a:prstGeom prst="rect">
            <a:avLst/>
          </a:prstGeom>
          <a:solidFill>
            <a:srgbClr val="00B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2103120"/>
            <a:ext cx="121889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BFB2"/>
                </a:solidFill>
              </a:rPr>
              <a:t>SECTION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1752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</a:rPr>
              <a:t>EU Alignment &amp; Compliance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48056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E6EAF0"/>
                </a:solidFill>
              </a:rPr>
              <a:t>NIS2 · GDPR · Cyber Resilience Act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64008" cy="5852160"/>
          </a:xfrm>
          <a:prstGeom prst="rect">
            <a:avLst/>
          </a:prstGeom>
          <a:solidFill>
            <a:srgbClr val="00B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37160"/>
            <a:ext cx="11521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NIS2 Article 21(2) — Complete Compliance Matrix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234440"/>
            <a:ext cx="3200400" cy="411480"/>
          </a:xfrm>
          <a:prstGeom prst="rect">
            <a:avLst/>
          </a:prstGeom>
          <a:solidFill>
            <a:srgbClr val="0A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26187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NIS2 Measure</a:t>
            </a:r>
          </a:p>
        </p:txBody>
      </p:sp>
      <p:sp>
        <p:nvSpPr>
          <p:cNvPr id="8" name="Rectangle 7"/>
          <p:cNvSpPr/>
          <p:nvPr/>
        </p:nvSpPr>
        <p:spPr>
          <a:xfrm>
            <a:off x="3566160" y="1234440"/>
            <a:ext cx="822960" cy="411480"/>
          </a:xfrm>
          <a:prstGeom prst="rect">
            <a:avLst/>
          </a:prstGeom>
          <a:solidFill>
            <a:srgbClr val="0A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11880" y="1261872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Layer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80560" y="1234440"/>
            <a:ext cx="7589520" cy="411480"/>
          </a:xfrm>
          <a:prstGeom prst="rect">
            <a:avLst/>
          </a:prstGeom>
          <a:solidFill>
            <a:srgbClr val="0A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261872"/>
            <a:ext cx="7589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opensecstack Component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664208"/>
            <a:ext cx="3200400" cy="429768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1709928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A1A2F"/>
                </a:solidFill>
              </a:rPr>
              <a:t>(a) Risk analysis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66160" y="1664208"/>
            <a:ext cx="822960" cy="429768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11880" y="1709928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A1A2F"/>
                </a:solidFill>
              </a:rPr>
              <a:t>L4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60" y="1664208"/>
            <a:ext cx="7589520" cy="429768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26280" y="1709928"/>
            <a:ext cx="7498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A1A2F"/>
                </a:solidFill>
              </a:rPr>
              <a:t>CITADEL governance + NIS2Compass art21_a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093976"/>
            <a:ext cx="3200400" cy="4297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040" y="2139696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A1A2F"/>
                </a:solidFill>
              </a:rPr>
              <a:t>(b) Incident handling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566160" y="2093976"/>
            <a:ext cx="822960" cy="4297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11880" y="2139696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3344"/>
                </a:solidFill>
              </a:rPr>
              <a:t>L4+5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80560" y="2093976"/>
            <a:ext cx="7589520" cy="4297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26280" y="2139696"/>
            <a:ext cx="7498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A1A2F"/>
                </a:solidFill>
              </a:rPr>
              <a:t>WORM log + HARD_STOP playbook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2523744"/>
            <a:ext cx="3200400" cy="429768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0040" y="2569464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A1A2F"/>
                </a:solidFill>
              </a:rPr>
              <a:t>(c) Business continuity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566160" y="2523744"/>
            <a:ext cx="822960" cy="429768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11880" y="2569464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C87A"/>
                </a:solidFill>
              </a:rPr>
              <a:t>L5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480560" y="2523744"/>
            <a:ext cx="7589520" cy="429768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26280" y="2569464"/>
            <a:ext cx="7498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A1A2F"/>
                </a:solidFill>
              </a:rPr>
              <a:t>Active-active + offsite DR + triple backup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2953512"/>
            <a:ext cx="3200400" cy="4297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0040" y="2999232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A1A2F"/>
                </a:solidFill>
              </a:rPr>
              <a:t>(d) Supply chain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566160" y="2953512"/>
            <a:ext cx="822960" cy="4297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11880" y="2999232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A1A2F"/>
                </a:solidFill>
              </a:rPr>
              <a:t>L3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480560" y="2953512"/>
            <a:ext cx="7589520" cy="4297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26280" y="2999232"/>
            <a:ext cx="7498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A1A2F"/>
                </a:solidFill>
              </a:rPr>
              <a:t>Dependency pinning + Go/Cargo checksums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3383280"/>
            <a:ext cx="3200400" cy="429768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0040" y="34290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A1A2F"/>
                </a:solidFill>
              </a:rPr>
              <a:t>(e) Network security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566160" y="3383280"/>
            <a:ext cx="822960" cy="429768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11880" y="34290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A1A2F"/>
                </a:solidFill>
              </a:rPr>
              <a:t>L2+3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480560" y="3383280"/>
            <a:ext cx="7589520" cy="429768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26280" y="3429000"/>
            <a:ext cx="7498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A1A2F"/>
                </a:solidFill>
              </a:rPr>
              <a:t>Rate limiting · TLS · Kubernetes isolation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74320" y="3813048"/>
            <a:ext cx="3200400" cy="4297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20040" y="3858768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A1A2F"/>
                </a:solidFill>
              </a:rPr>
              <a:t>(f) Effectiveness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566160" y="3813048"/>
            <a:ext cx="822960" cy="4297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611880" y="3858768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A1A2F"/>
                </a:solidFill>
              </a:rPr>
              <a:t>L4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480560" y="3813048"/>
            <a:ext cx="7589520" cy="4297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526280" y="3858768"/>
            <a:ext cx="7498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A1A2F"/>
                </a:solidFill>
              </a:rPr>
              <a:t>APIGuard self-scan + VIGIL_DEEP daily audit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74320" y="4242816"/>
            <a:ext cx="3200400" cy="429768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20040" y="4288536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A1A2F"/>
                </a:solidFill>
              </a:rPr>
              <a:t>(g) Cyber hygiene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566160" y="4242816"/>
            <a:ext cx="822960" cy="429768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611880" y="4288536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A1A2F"/>
                </a:solidFill>
              </a:rPr>
              <a:t>L1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480560" y="4242816"/>
            <a:ext cx="7589520" cy="429768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526280" y="4288536"/>
            <a:ext cx="7498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A1A2F"/>
                </a:solidFill>
              </a:rPr>
              <a:t>SoD enforcement + role model + training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74320" y="4672584"/>
            <a:ext cx="3200400" cy="4297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20040" y="4718304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A1A2F"/>
                </a:solidFill>
              </a:rPr>
              <a:t>(h) Cryptography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566160" y="4672584"/>
            <a:ext cx="822960" cy="4297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611880" y="4718304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C87A"/>
                </a:solidFill>
              </a:rPr>
              <a:t>L5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480560" y="4672584"/>
            <a:ext cx="7589520" cy="4297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526280" y="4718304"/>
            <a:ext cx="7498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A1A2F"/>
                </a:solidFill>
              </a:rPr>
              <a:t>TripleHash + Ed25519 anchors + HMAC-SHA256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74320" y="5102352"/>
            <a:ext cx="3200400" cy="429768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20040" y="5148072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A1A2F"/>
                </a:solidFill>
              </a:rPr>
              <a:t>(i) HR security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566160" y="5102352"/>
            <a:ext cx="822960" cy="429768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611880" y="5148072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A1A2F"/>
                </a:solidFill>
              </a:rPr>
              <a:t>L1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480560" y="5102352"/>
            <a:ext cx="7589520" cy="429768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526280" y="5148072"/>
            <a:ext cx="7498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A1A2F"/>
                </a:solidFill>
              </a:rPr>
              <a:t>Role groups + access revocation workflow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74320" y="5532120"/>
            <a:ext cx="3200400" cy="4297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20040" y="55778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A1A2F"/>
                </a:solidFill>
              </a:rPr>
              <a:t>(j) Access control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566160" y="5532120"/>
            <a:ext cx="822960" cy="4297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611880" y="557784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3344"/>
                </a:solidFill>
              </a:rPr>
              <a:t>L1+4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480560" y="5532120"/>
            <a:ext cx="7589520" cy="4297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526280" y="5577840"/>
            <a:ext cx="7498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A1A2F"/>
                </a:solidFill>
              </a:rPr>
              <a:t>JWT/API keys + MARSHAL gate evaluation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64008" cy="5852160"/>
          </a:xfrm>
          <a:prstGeom prst="rect">
            <a:avLst/>
          </a:prstGeom>
          <a:solidFill>
            <a:srgbClr val="00B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37160"/>
            <a:ext cx="11521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GDPR, Cyber Resilience Act &amp; EU Data Sovereignty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170432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A1A2F"/>
                </a:solidFill>
              </a:rPr>
              <a:t>  ▶  GDPR Article 32: appropriate technical measures — TripleHash + WORM log satisfies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627632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445566"/>
                </a:solidFill>
              </a:rPr>
              <a:t>    ◦  SHA-512 archival hash = long-term integrity of personal data records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020824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445566"/>
                </a:solidFill>
              </a:rPr>
              <a:t>    ◦  Right to erasure: WORM log stores hashes of data, not data itself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414016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A1A2F"/>
                </a:solidFill>
              </a:rPr>
              <a:t>  ▶  EU Cyber Resilience Act (CRA) — product security requirements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871216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445566"/>
                </a:solidFill>
              </a:rPr>
              <a:t>    ◦  Secure by design: microkernel + grid sandboxes achieve this by architecture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264408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445566"/>
                </a:solidFill>
              </a:rPr>
              <a:t>    ◦  Vulnerability reporting: opensecstack VIGIL_DEEP automates continuous assurance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65760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445566"/>
                </a:solidFill>
              </a:rPr>
              <a:t>    ◦  SBOM: every component is open-source with verifiable supply chain checksums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4050792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A1A2F"/>
                </a:solidFill>
              </a:rPr>
              <a:t>  ▶  EU AI Act — governance for AI system actions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507992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445566"/>
                </a:solidFill>
              </a:rPr>
              <a:t>    ◦  MARSHAL 5-gate engine provides the 'meaningful human oversight' requirement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4901184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445566"/>
                </a:solidFill>
              </a:rPr>
              <a:t>    ◦  Every AI-initiated action: auditable, reversible, with full evidence chain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34640"/>
            <a:ext cx="12188952" cy="54864"/>
          </a:xfrm>
          <a:prstGeom prst="rect">
            <a:avLst/>
          </a:prstGeom>
          <a:solidFill>
            <a:srgbClr val="00B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2103120"/>
            <a:ext cx="121889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BFB2"/>
                </a:solidFill>
              </a:rPr>
              <a:t>SECTION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1752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</a:rPr>
              <a:t>Roadmap &amp; Call to 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48056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E6EAF0"/>
                </a:solidFill>
              </a:rPr>
              <a:t>Phase 4 · IRFlow · ThreatFlow · v1.0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00B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47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</a:rPr>
              <a:t>opensecstack v0.1.0 — Join 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46888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00BFB2"/>
                </a:solidFill>
              </a:rPr>
              <a:t>Apache 2.0 · Open Source · Community-Driven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383280"/>
            <a:ext cx="11064240" cy="640080"/>
          </a:xfrm>
          <a:prstGeom prst="rect">
            <a:avLst/>
          </a:prstGeom>
          <a:solidFill>
            <a:srgbClr val="14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347472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BFB2"/>
                </a:solidFill>
              </a:rPr>
              <a:t>Phase 4 —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347472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APIGuard v0.6.0 · IRFlow · ThreatFlow · CI/CD orchestration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133088"/>
            <a:ext cx="11064240" cy="640080"/>
          </a:xfrm>
          <a:prstGeom prst="rect">
            <a:avLst/>
          </a:prstGeom>
          <a:solidFill>
            <a:srgbClr val="14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4224528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BFB2"/>
                </a:solidFill>
              </a:rPr>
              <a:t>Phase 5 — 2027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4224528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APIGuard v1.0.0 · OpenScrub · SecureLab · OpenCSIRT · OS Alpha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882896"/>
            <a:ext cx="11064240" cy="640080"/>
          </a:xfrm>
          <a:prstGeom prst="rect">
            <a:avLst/>
          </a:prstGeom>
          <a:solidFill>
            <a:srgbClr val="14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4974336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BFB2"/>
                </a:solidFill>
              </a:rPr>
              <a:t>v1.0 Production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4974336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Security audit · HA deployment · Third-party review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5669280"/>
            <a:ext cx="2651760" cy="868680"/>
          </a:xfrm>
          <a:prstGeom prst="rect">
            <a:avLst/>
          </a:prstGeom>
          <a:solidFill>
            <a:srgbClr val="00B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571500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A1A2F"/>
                </a:solidFill>
              </a:rPr>
              <a:t>Immutable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1264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A1A2F"/>
                </a:solidFill>
              </a:rPr>
              <a:t>WORM chain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83280" y="5669280"/>
            <a:ext cx="2651760" cy="868680"/>
          </a:xfrm>
          <a:prstGeom prst="rect">
            <a:avLst/>
          </a:prstGeom>
          <a:solidFill>
            <a:srgbClr val="00B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83280" y="571500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A1A2F"/>
                </a:solidFill>
              </a:rPr>
              <a:t>Governed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3280" y="61264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A1A2F"/>
                </a:solidFill>
              </a:rPr>
              <a:t>MARSHAL 5-gate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5669280"/>
            <a:ext cx="2651760" cy="868680"/>
          </a:xfrm>
          <a:prstGeom prst="rect">
            <a:avLst/>
          </a:prstGeom>
          <a:solidFill>
            <a:srgbClr val="00B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7920" y="571500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A1A2F"/>
                </a:solidFill>
              </a:rPr>
              <a:t>Auditable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61264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A1A2F"/>
                </a:solidFill>
              </a:rPr>
              <a:t>VIGIL_DEEP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052560" y="5669280"/>
            <a:ext cx="2651760" cy="868680"/>
          </a:xfrm>
          <a:prstGeom prst="rect">
            <a:avLst/>
          </a:prstGeom>
          <a:solidFill>
            <a:srgbClr val="00B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0" y="571500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A1A2F"/>
                </a:solidFill>
              </a:rPr>
              <a:t>Open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52560" y="61264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A1A2F"/>
                </a:solidFill>
              </a:rPr>
              <a:t>Apache 2.0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0" y="6382512"/>
            <a:ext cx="121889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E6EAF0"/>
                </a:solidFill>
              </a:rPr>
              <a:t>github.com/opensecstack/opensecstack  · 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