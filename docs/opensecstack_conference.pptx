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opensecstack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2B2"/>
                </a:solidFill>
              </a:rPr>
              <a:t>Immutable Governance · Blockchain-Anchored Audit · Ecosystem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8ECF0"/>
                </a:solidFill>
              </a:rPr>
              <a:t>Conference Presentation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— Why Governance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AI systems and automated pipelines execute thousands of actions per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No verifiable record of who authorised what, when,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Separation of duties (SoD) is bypassed silently in complex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334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Same operator triggers and approves the same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358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Audit logs are mutable — stored in databases that admins can 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1129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Post-breach forensics cannot be trusted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136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Regulatory mandates (NIS2, ISO 27001) require evidence of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'We had a process' is not a compliant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opensecstack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17373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APIGuard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API Security
OWASP API Top 10
CVSS 3.1 · SARIF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51760" cy="17373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NIS2 Compass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Regulatory Compliance
NIS2 Article 21(2)
10 Measures A–J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2651760" cy="17373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CITADEL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Governance Engine
MARSHAL · WORM · VIGIL
AUGUR · Anchor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371600"/>
            <a:ext cx="2651760" cy="17373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8288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Multi-language
Go · Python · Rust
TDS Scanner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103120"/>
            <a:ext cx="274320" cy="73152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03120"/>
            <a:ext cx="274320" cy="73152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2103120"/>
            <a:ext cx="274320" cy="73152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445566"/>
                </a:solidFill>
              </a:rPr>
              <a:t>All platforms emit signed WORM events to CITADEL via HMAC-SHA256 authenticated connectors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2148840" cy="137160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605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OWASP Gates
(MARSHAL)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4114800"/>
            <a:ext cx="2148840" cy="137160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41605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800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NIS2 Measures
(Compass)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4114800"/>
            <a:ext cx="2148840" cy="137160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41605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800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SDK Languages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59" y="4114800"/>
            <a:ext cx="2148840" cy="137160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59" y="41605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SHA-256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59" y="4800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Chain Hash
Algorithm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4114800"/>
            <a:ext cx="2148840" cy="137160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41605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Ed25519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4800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Anchor
Signature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APIGuard — API Security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Scans OpenAPI 3.x, Swagger 2.0, GraphQL, and Postman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Full OWASP API Security Top 10 (A1–A10)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311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A1 BOLA · A2 Broken Auth · A3 Mass Assignment · A4 Rate Limiting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334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A5 Function Auth · A6 Sensitive Flows · A7 SSRF · A8–A10 + more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358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CVSS 3.1 scoring on every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1129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Output: SARIF, HTML, JSON, plain-text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867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React dashboard — scan history, finding management, regression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Custom rule engine — load organisation-specific checks as WASM 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NIS2 Compass — Regulatory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Maps all 10 NIS2 Article 21(2) technical measures (A through J)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A: Risk analysis  ·  B: Incident handling  ·  C: Business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D: Supply chain  ·  E: Acquisition security  ·  F: Vulnerability mgmt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G: Policies &amp; procedures  ·  H: Cryptography  ·  I: HR security  ·  J: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6265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Evidence artefacts linked to each control — cryptographic hashes stored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381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Assessment workflows with verifier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136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CITADEL webhook integration — compliance state changes → VIGIL advisories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PDF + JSON reports for regulator submission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CITADEL — The Governance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331720" cy="14630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MARSHAL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5-Gate
Decision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463040"/>
            <a:ext cx="2331720" cy="14630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WORM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92024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Append-Only
Audit Chain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463040"/>
            <a:ext cx="2331720" cy="14630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VIGIL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92024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Real-Time
Health Monitor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1463040"/>
            <a:ext cx="2331720" cy="14630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AUGUR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92024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Predictive
Advisory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24160" y="1463040"/>
            <a:ext cx="2331720" cy="14630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Anchor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92024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Ed25519
Chain Rotation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1546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C2B2"/>
                </a:solidFill>
              </a:rPr>
              <a:t>⟵────────────────── All components write to the WORM log ──────────────────⟶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▸  Connector auth: HMAC-SHA256 signed headers (X-CITADEL-KEY · X-CITADEL-TS · X-CITADEL-SIG)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24527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▸  Admin auth: HS256 JWT with role-based access (group_sig_admin · group_sig_auditor)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00015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▸  Two-bucket sliding window replay protection on every connector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75503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▸  No mutable state — all decisions are final and chain-linked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MARSHAL — The 5-Gate Decision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240280" cy="3474720"/>
          </a:xfrm>
          <a:prstGeom prst="rect">
            <a:avLst/>
          </a:prstGeom>
          <a:solidFill>
            <a:srgbClr val="00CC88"/>
          </a:solidFill>
          <a:ln>
            <a:solidFill>
              <a:srgbClr val="00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325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Gate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7373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33172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SoD check
Operator ≠ Verifier
Role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280160"/>
            <a:ext cx="2240280" cy="347472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325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Gate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7373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33172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Project whitelist
Freeze detection
Action type allow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280160"/>
            <a:ext cx="2240280" cy="3474720"/>
          </a:xfrm>
          <a:prstGeom prst="rect">
            <a:avLst/>
          </a:prstGeom>
          <a:solidFill>
            <a:srgbClr val="FFB700"/>
          </a:solidFill>
          <a:ln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325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Gate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7373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DETERMINISM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33172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Change ID required
Trace to ticket
No orphan 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280160"/>
            <a:ext cx="2240280" cy="3474720"/>
          </a:xfrm>
          <a:prstGeom prst="rect">
            <a:avLst/>
          </a:prstGeom>
          <a:solidFill>
            <a:srgbClr val="8844FF"/>
          </a:solidFill>
          <a:ln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325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Gate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7373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33172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Artefact hashes
Change ID linkage
Audit artifacts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8360" y="1280160"/>
            <a:ext cx="2240280" cy="347472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1325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Gate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7373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33172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Kerkese 2.0
JSON Schema
Field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9834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Outcome: EXECUTE   ·   REFUSE   ·   HARD_STOP  — written to WORM log on every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4864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5566"/>
                </a:solidFill>
              </a:rPr>
              <a:t>HARD_STOP is never skipped, even on internal error. The immutable record is the source of truth.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WORM Log — Write Once, Read Many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Every governance event is appended — never updated, never deleted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Scan decisions · Finding evidence · Freeze actions · Key rotations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Each entry carries: entry_id, source, event_type, project_id, payload, chain_hash, prev_hash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334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Chain hash links every entry to its predecessor — break one, break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Anchor records (Ed25519 signatures) are themselves WORM entries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844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Full chain verification via POST /api/v1/worm/verify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99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Returns: entries_checked, chain_integrity PASS/FAIL, first_break_entry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Genesis hash: 64 zero bytes — mathematically provable chain origin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Blockchain-Inspired Chain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1920240" cy="1645920"/>
          </a:xfrm>
          <a:prstGeom prst="rect">
            <a:avLst/>
          </a:prstGeom>
          <a:solidFill>
            <a:srgbClr val="445566"/>
          </a:solidFill>
          <a:ln>
            <a:solidFill>
              <a:srgbClr val="44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GENESIS
0000…0000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560320"/>
            <a:ext cx="365760" cy="91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40" y="1828800"/>
            <a:ext cx="1920240" cy="16459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92024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Entry #1
MARSHAL
EXECUTE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560320"/>
            <a:ext cx="365760" cy="91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2040" y="1828800"/>
            <a:ext cx="1920240" cy="16459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92024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Entry #2
Scan
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2560320"/>
            <a:ext cx="365760" cy="91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8040" y="1828800"/>
            <a:ext cx="1920240" cy="1645920"/>
          </a:xfrm>
          <a:prstGeom prst="rect">
            <a:avLst/>
          </a:prstGeom>
          <a:solidFill>
            <a:srgbClr val="4400CC"/>
          </a:solidFill>
          <a:ln>
            <a:solidFill>
              <a:srgbClr val="440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92024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Entry #3
Anchor
Rotation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2560320"/>
            <a:ext cx="365760" cy="91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40" y="1828800"/>
            <a:ext cx="1920240" cy="16459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92024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Entry N
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611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2B2"/>
                </a:solidFill>
              </a:rPr>
              <a:t>prev_hash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611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B2"/>
                </a:solidFill>
              </a:rPr>
              <a:t>chain_hash
prev=hash(i-1)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611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B2"/>
                </a:solidFill>
              </a:rPr>
              <a:t>chain_hash
prev=hash(i-1)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611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B2"/>
                </a:solidFill>
              </a:rPr>
              <a:t>chain_hash
prev=hash(i-1)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611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B2"/>
                </a:solidFill>
              </a:rPr>
              <a:t>chain_hash
prev=hash(i-1)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▸  Immutability: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480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66"/>
                </a:solidFill>
              </a:rPr>
              <a:t>Changing any entry invalidates every subsequent hash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194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▸  Auditability: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91947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66"/>
                </a:solidFill>
              </a:rPr>
              <a:t>Any verifier can replay the chain from genesis independently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5838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▸  Tamper Evidence: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35838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66"/>
                </a:solidFill>
              </a:rPr>
              <a:t>A single bit flip is detectable without a trusted third party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972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▸  Anchoring: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79729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66"/>
                </a:solidFill>
              </a:rPr>
              <a:t>Ed25519 signatures periodically seal the chain tip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Triple Hashing — The Chain Integrity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Three independent SHA-256 hash operations protect every decision: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11430000" cy="137160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91440" cy="13716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Hash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933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PAYLOAD 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659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24488"/>
                </a:solidFill>
              </a:rPr>
              <a:t>SHA-256(canonical_json(payload))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231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6"/>
                </a:solidFill>
              </a:rPr>
              <a:t>Ensures payload cannot be altered post-write.
Canonical JSON: sorted keys, no whitespace.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29000"/>
            <a:ext cx="11430000" cy="137160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91440" cy="1371600"/>
          </a:xfrm>
          <a:prstGeom prst="rect">
            <a:avLst/>
          </a:prstGeom>
          <a:solidFill>
            <a:srgbClr val="0055AA"/>
          </a:solidFill>
          <a:ln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021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5AA"/>
                </a:solidFill>
              </a:rPr>
              <a:t>Hash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02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CHAIN HASH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4747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24488"/>
                </a:solidFill>
              </a:rPr>
              <a:t>SHA-256(prev_chain_hash || payload_hash)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319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6"/>
                </a:solidFill>
              </a:rPr>
              <a:t>Links this entry to every preceding entry.
Breaking the chain requires rewriting all successors.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37760"/>
            <a:ext cx="11430000" cy="137160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91440" cy="1371600"/>
          </a:xfrm>
          <a:prstGeom prst="rect">
            <a:avLst/>
          </a:prstGeom>
          <a:solidFill>
            <a:srgbClr val="4400CC"/>
          </a:solidFill>
          <a:ln>
            <a:solidFill>
              <a:srgbClr val="440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109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00CC"/>
                </a:solidFill>
              </a:rPr>
              <a:t>Hash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10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BODY HASH (Connector Auth)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9834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24488"/>
                </a:solidFill>
              </a:rPr>
              <a:t>SHA-256(request_body)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4406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6"/>
                </a:solidFill>
              </a:rPr>
              <a:t>Prevents in-transit tampering of the API request
before it reaches the WORM appender.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2B2"/>
                </a:solidFill>
              </a:rPr>
              <a:t>Together these three hashes make it cryptographically impossible to forge, replay, or silently modify any governance record.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Chain Anchoring — Ed25519 Signatures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Problem: SHA-256 chains prove internal consistency but not calendar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An attacker with enough compute could reconstruct a plausible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Solution: periodic Ed25519 anchor signatures over the current chain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334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Anchor message: 'anchor:' + current_chain_hash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358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Anchor record written as a WORM entry — anchors are chained too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381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Key management: key ID + public key stored separately from private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136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Rotation scheduler runs every N hours (configurable, default 720h)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159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Old anchors remain verifiable — public keys are append-only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1830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</a:rPr>
              <a:t>  ▸  Verification: anyone with the public key can verify without server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937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5566"/>
                </a:solidFill>
              </a:rPr>
              <a:t>    ◦  Ed25519 verify(pubkey, 'anchor:' + chain_hash, signature)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VIGIL — Real-Time Health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2011680"/>
          </a:xfrm>
          <a:prstGeom prst="rect">
            <a:avLst/>
          </a:prstGeom>
          <a:solidFill>
            <a:srgbClr val="00CC88"/>
          </a:solidFill>
          <a:ln>
            <a:solidFill>
              <a:srgbClr val="00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Normal operation
No active HARD_STOPs
All mirrors fresh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2011680"/>
          </a:xfrm>
          <a:prstGeom prst="rect">
            <a:avLst/>
          </a:prstGeom>
          <a:solidFill>
            <a:srgbClr val="FFB700"/>
          </a:solidFill>
          <a:ln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716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6596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Elevated risk
HIGH advisory active
Mirror stale &gt; threshold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566160" cy="2011680"/>
          </a:xfrm>
          <a:prstGeom prst="rect">
            <a:avLst/>
          </a:prstGeom>
          <a:solidFill>
            <a:srgbClr val="FF3B3B"/>
          </a:solidFill>
          <a:ln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3716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6596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Immediate action required
CRITICAL advisory
or active HARD_STOP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74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445566"/>
                </a:solidFill>
              </a:rPr>
              <a:t>VIGIL_REALTIME — polled every N seconds, cached, zero DB load on status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</a:rPr>
              <a:t>VIGIL_DEEP — Daily Full-Chain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165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B2"/>
                </a:solidFill>
              </a:rPr>
              <a:t>  ▸  Chain integrity: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4165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6"/>
                </a:solidFill>
              </a:rPr>
              <a:t>Walk every WORM entry, verify prev_hash → chain_hash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97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B2"/>
                </a:solidFill>
              </a:rPr>
              <a:t>  ▸  SoD violations: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809744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6"/>
                </a:solidFill>
              </a:rPr>
              <a:t>Detect entries where operator_user_id == verifier_user_id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029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B2"/>
                </a:solidFill>
              </a:rPr>
              <a:t>  ▸  Orphaned incidents: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202936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6"/>
                </a:solidFill>
              </a:rPr>
              <a:t>HARD_STOP entries with no subsequent close_incident 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96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B2"/>
                </a:solidFill>
              </a:rPr>
              <a:t>  ▸  Evidence gaps: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596128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6"/>
                </a:solidFill>
              </a:rPr>
              <a:t>EXECUTE decisions with no linked artefacts or change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B2"/>
                </a:solidFill>
              </a:rPr>
              <a:t>  ▸  Signed report: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9893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6"/>
                </a:solidFill>
              </a:rPr>
              <a:t>SHA-256(report_id|period|summary) written as a WORM entry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AUGUR — Predictive Advisory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9 advisory rules evaluated continuously against live system state: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914400" cy="329184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AUG-001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737360"/>
            <a:ext cx="128016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B2"/>
                </a:solidFill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737360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Mandate expiry approaching — renew before MARSHAL Gate 1 refuses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39696"/>
            <a:ext cx="914400" cy="329184"/>
          </a:xfrm>
          <a:prstGeom prst="rect">
            <a:avLst/>
          </a:prstGeom>
          <a:solidFill>
            <a:srgbClr val="FFB700"/>
          </a:solidFill>
          <a:ln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3969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AUG-002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139696"/>
            <a:ext cx="128016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13969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B700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139696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Approval threshold exceeded — additional sign-off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42032"/>
            <a:ext cx="914400" cy="329184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54203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AUG-003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2542032"/>
            <a:ext cx="128016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54203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B2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54203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Vendor contract expiry — supply chain risk elevation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914400" cy="329184"/>
          </a:xfrm>
          <a:prstGeom prst="rect">
            <a:avLst/>
          </a:prstGeom>
          <a:solidFill>
            <a:srgbClr val="FFB700"/>
          </a:solidFill>
          <a:ln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9443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AUG-004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2944368"/>
            <a:ext cx="128016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29443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B700"/>
                </a:solidFill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944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Freeze period active — MARSHAL Gate 2 will REFUSE non-emergency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346704"/>
            <a:ext cx="914400" cy="329184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34670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AUG-005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346704"/>
            <a:ext cx="128016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334670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B2"/>
                </a:solidFill>
              </a:rP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34670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Mirror data inconsistency — cross-check ERP before proceeding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749040"/>
            <a:ext cx="914400" cy="329184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74904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AUG-006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3749040"/>
            <a:ext cx="128016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374904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B2"/>
                </a:solidFill>
              </a:rP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749040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Unusual action frequency — possible anomalous automation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151376"/>
            <a:ext cx="914400" cy="329184"/>
          </a:xfrm>
          <a:prstGeom prst="rect">
            <a:avLst/>
          </a:prstGeom>
          <a:solidFill>
            <a:srgbClr val="FFB700"/>
          </a:solidFill>
          <a:ln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1513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AUG-007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4151376"/>
            <a:ext cx="128016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41513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B700"/>
                </a:solidFill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151376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Mirror stale beyond threshold — advisory data may be outdated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553712"/>
            <a:ext cx="914400" cy="329184"/>
          </a:xfrm>
          <a:prstGeom prst="rect">
            <a:avLst/>
          </a:prstGeom>
          <a:solidFill>
            <a:srgbClr val="FF3B3B"/>
          </a:solidFill>
          <a:ln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55371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AUG-008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4553712"/>
            <a:ext cx="128016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455371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3B3B"/>
                </a:solidFill>
              </a:rPr>
              <a:t>CRITICAL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455371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Unresolved HARD_STOP — all non-emergency actions at elevated risk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956048"/>
            <a:ext cx="914400" cy="329184"/>
          </a:xfrm>
          <a:prstGeom prst="rect">
            <a:avLst/>
          </a:prstGeom>
          <a:solidFill>
            <a:srgbClr val="FFB700"/>
          </a:solidFill>
          <a:ln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95604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AUG-009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0" y="4956048"/>
            <a:ext cx="128016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49560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B700"/>
                </a:solidFill>
              </a:rPr>
              <a:t>HIGH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495604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Chain anchor overdue — rotation required, timestamp trust weakens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End-to-End Governance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194560" cy="18288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B2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Developer triggers
API scan via
APIGuard CLI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194560"/>
            <a:ext cx="411480" cy="91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371600"/>
            <a:ext cx="2194560" cy="1828800"/>
          </a:xfrm>
          <a:prstGeom prst="rect">
            <a:avLst/>
          </a:prstGeom>
          <a:solidFill>
            <a:srgbClr val="0055AA"/>
          </a:solidFill>
          <a:ln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B2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8288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APIGuard sends
Kerkese to CITADEL
MARSHAL evaluate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2194560"/>
            <a:ext cx="411480" cy="91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1371600"/>
            <a:ext cx="2194560" cy="1828800"/>
          </a:xfrm>
          <a:prstGeom prst="rect">
            <a:avLst/>
          </a:prstGeom>
          <a:solidFill>
            <a:srgbClr val="008866"/>
          </a:solidFill>
          <a:ln>
            <a:solidFill>
              <a:srgbClr val="008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B2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288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MARSHAL runs
5 gates
Issues EXECUTE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194560"/>
            <a:ext cx="411480" cy="91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1371600"/>
            <a:ext cx="2194560" cy="18288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B2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8288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Scan runs
Findings written to
WORM as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2194560"/>
            <a:ext cx="411480" cy="9144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371600"/>
            <a:ext cx="2194560" cy="1828800"/>
          </a:xfrm>
          <a:prstGeom prst="rect">
            <a:avLst/>
          </a:prstGeom>
          <a:solidFill>
            <a:srgbClr val="4400CC"/>
          </a:solidFill>
          <a:ln>
            <a:solidFill>
              <a:srgbClr val="440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B2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8288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VIGIL reflects
new state
AUGUR evaluates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4290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445566"/>
                </a:solidFill>
              </a:rPr>
              <a:t>Every step is recorded in the immutable WORM chain. No step can be skipped, forged, or silently failed.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069080"/>
            <a:ext cx="109728" cy="640080"/>
          </a:xfrm>
          <a:prstGeom prst="rect">
            <a:avLst/>
          </a:prstGeom>
          <a:solidFill>
            <a:srgbClr val="FF3B3B"/>
          </a:solidFill>
          <a:ln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114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Without opensecstack: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1605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6"/>
                </a:solidFill>
              </a:rPr>
              <a:t>No governance record · SoD bypass undetected · Audit logs mutable · NIS2 evidence absent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846320"/>
            <a:ext cx="109728" cy="640080"/>
          </a:xfrm>
          <a:prstGeom prst="rect">
            <a:avLst/>
          </a:prstGeom>
          <a:solidFill>
            <a:srgbClr val="00CC88"/>
          </a:solidFill>
          <a:ln>
            <a:solidFill>
              <a:srgbClr val="00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920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With opensecstack: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9377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6"/>
                </a:solidFill>
              </a:rPr>
              <a:t>Every decision chain-hashed · SoD enforced at Gate 1 · WORM log forensically sound · NIS2 mapped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opensecstack v0.1.0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2B2"/>
                </a:solidFill>
              </a:rPr>
              <a:t>Open-source · Apache 2.0 · Production-ready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480560"/>
            <a:ext cx="2743200" cy="173736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526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Immutable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</a:rPr>
              <a:t>WORM chain — SHA-256
linked, append-only,
forensically sound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4480560"/>
            <a:ext cx="2743200" cy="173736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4526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Governed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50292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</a:rPr>
              <a:t>MARSHAL 5-gate engine —
every action authorised
before execution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480560"/>
            <a:ext cx="2743200" cy="173736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526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Auditable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292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</a:rPr>
              <a:t>VIGIL_DEEP daily audit —
chain integrity + SoD +
evidence gaps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4480560"/>
            <a:ext cx="2743200" cy="1737360"/>
          </a:xfrm>
          <a:prstGeom prst="rect">
            <a:avLst/>
          </a:prstGeom>
          <a:solidFill>
            <a:srgbClr val="00C2B2"/>
          </a:solidFill>
          <a:ln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4526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Anchored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0292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</a:rPr>
              <a:t>Ed25519 signatures —
periodic seal of the
entire chain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8ECF0"/>
                </a:solidFill>
              </a:rPr>
              <a:t>github.com/opensecstack/opensecstack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